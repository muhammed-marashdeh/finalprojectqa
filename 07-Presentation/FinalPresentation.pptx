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ordita" panose="020B0604020202020204" charset="0"/>
      <p:regular r:id="rId12"/>
    </p:embeddedFont>
    <p:embeddedFont>
      <p:font typeface="Gordita Bold" panose="020B0604020202020204" charset="0"/>
      <p:regular r:id="rId13"/>
    </p:embeddedFont>
    <p:embeddedFont>
      <p:font typeface="Gordita Light" panose="020B0604020202020204" charset="0"/>
      <p:regular r:id="rId14"/>
    </p:embeddedFont>
    <p:embeddedFont>
      <p:font typeface="Recoleta Heavy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520454"/>
            <a:ext cx="18288000" cy="2766546"/>
            <a:chOff x="0" y="0"/>
            <a:chExt cx="4816593" cy="728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728638"/>
            </a:xfrm>
            <a:custGeom>
              <a:avLst/>
              <a:gdLst/>
              <a:ahLst/>
              <a:cxnLst/>
              <a:rect l="l" t="t" r="r" b="b"/>
              <a:pathLst>
                <a:path w="4816592" h="728638">
                  <a:moveTo>
                    <a:pt x="0" y="0"/>
                  </a:moveTo>
                  <a:lnTo>
                    <a:pt x="4816592" y="0"/>
                  </a:lnTo>
                  <a:lnTo>
                    <a:pt x="4816592" y="728638"/>
                  </a:lnTo>
                  <a:lnTo>
                    <a:pt x="0" y="728638"/>
                  </a:ln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74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22374" y="4866540"/>
            <a:ext cx="3931252" cy="6635024"/>
          </a:xfrm>
          <a:custGeom>
            <a:avLst/>
            <a:gdLst/>
            <a:ahLst/>
            <a:cxnLst/>
            <a:rect l="l" t="t" r="r" b="b"/>
            <a:pathLst>
              <a:path w="3931252" h="6635024">
                <a:moveTo>
                  <a:pt x="0" y="0"/>
                </a:moveTo>
                <a:lnTo>
                  <a:pt x="3931252" y="0"/>
                </a:lnTo>
                <a:lnTo>
                  <a:pt x="3931252" y="6635024"/>
                </a:lnTo>
                <a:lnTo>
                  <a:pt x="0" y="6635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 flipV="1">
            <a:off x="-1967251" y="4866540"/>
            <a:ext cx="3931252" cy="6635024"/>
          </a:xfrm>
          <a:custGeom>
            <a:avLst/>
            <a:gdLst/>
            <a:ahLst/>
            <a:cxnLst/>
            <a:rect l="l" t="t" r="r" b="b"/>
            <a:pathLst>
              <a:path w="3931252" h="6635024">
                <a:moveTo>
                  <a:pt x="0" y="6635024"/>
                </a:moveTo>
                <a:lnTo>
                  <a:pt x="3931252" y="6635024"/>
                </a:lnTo>
                <a:lnTo>
                  <a:pt x="3931252" y="0"/>
                </a:lnTo>
                <a:lnTo>
                  <a:pt x="0" y="0"/>
                </a:lnTo>
                <a:lnTo>
                  <a:pt x="0" y="663502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1028700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699706" y="1028700"/>
            <a:ext cx="1119188" cy="1959979"/>
          </a:xfrm>
          <a:custGeom>
            <a:avLst/>
            <a:gdLst/>
            <a:ahLst/>
            <a:cxnLst/>
            <a:rect l="l" t="t" r="r" b="b"/>
            <a:pathLst>
              <a:path w="1119188" h="1959979">
                <a:moveTo>
                  <a:pt x="0" y="0"/>
                </a:moveTo>
                <a:lnTo>
                  <a:pt x="1119188" y="0"/>
                </a:lnTo>
                <a:lnTo>
                  <a:pt x="1119188" y="1959979"/>
                </a:lnTo>
                <a:lnTo>
                  <a:pt x="0" y="1959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924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26516" y="2942215"/>
            <a:ext cx="13634968" cy="1401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6"/>
              </a:lnSpc>
            </a:pPr>
            <a:r>
              <a:rPr lang="en-US" sz="947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LOYALITY + STORE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2018" y="5913559"/>
            <a:ext cx="71223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QA Final Project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97389" y="1539396"/>
            <a:ext cx="629322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By Muhammed Marashdeh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37885" y="8326169"/>
            <a:ext cx="6610604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-43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Al-Hussein Technical University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-43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Q2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2354" y="-872368"/>
            <a:ext cx="2258399" cy="2258399"/>
          </a:xfrm>
          <a:custGeom>
            <a:avLst/>
            <a:gdLst/>
            <a:ahLst/>
            <a:cxnLst/>
            <a:rect l="l" t="t" r="r" b="b"/>
            <a:pathLst>
              <a:path w="2258399" h="2258399">
                <a:moveTo>
                  <a:pt x="0" y="0"/>
                </a:moveTo>
                <a:lnTo>
                  <a:pt x="2258399" y="0"/>
                </a:lnTo>
                <a:lnTo>
                  <a:pt x="2258399" y="2258399"/>
                </a:lnTo>
                <a:lnTo>
                  <a:pt x="0" y="225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40973" y="256831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847864" y="3243695"/>
            <a:ext cx="12902440" cy="7863622"/>
            <a:chOff x="0" y="0"/>
            <a:chExt cx="3398173" cy="20710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98174" cy="2071077"/>
            </a:xfrm>
            <a:custGeom>
              <a:avLst/>
              <a:gdLst/>
              <a:ahLst/>
              <a:cxnLst/>
              <a:rect l="l" t="t" r="r" b="b"/>
              <a:pathLst>
                <a:path w="3398174" h="2071077">
                  <a:moveTo>
                    <a:pt x="60004" y="0"/>
                  </a:moveTo>
                  <a:lnTo>
                    <a:pt x="3338170" y="0"/>
                  </a:lnTo>
                  <a:cubicBezTo>
                    <a:pt x="3354084" y="0"/>
                    <a:pt x="3369346" y="6322"/>
                    <a:pt x="3380599" y="17575"/>
                  </a:cubicBezTo>
                  <a:cubicBezTo>
                    <a:pt x="3391852" y="28827"/>
                    <a:pt x="3398174" y="44090"/>
                    <a:pt x="3398174" y="60004"/>
                  </a:cubicBezTo>
                  <a:lnTo>
                    <a:pt x="3398174" y="2011074"/>
                  </a:lnTo>
                  <a:cubicBezTo>
                    <a:pt x="3398174" y="2044213"/>
                    <a:pt x="3371309" y="2071077"/>
                    <a:pt x="3338170" y="2071077"/>
                  </a:cubicBezTo>
                  <a:lnTo>
                    <a:pt x="60004" y="2071077"/>
                  </a:lnTo>
                  <a:cubicBezTo>
                    <a:pt x="44090" y="2071077"/>
                    <a:pt x="28827" y="2064756"/>
                    <a:pt x="17575" y="2053503"/>
                  </a:cubicBezTo>
                  <a:cubicBezTo>
                    <a:pt x="6322" y="2042250"/>
                    <a:pt x="0" y="2026988"/>
                    <a:pt x="0" y="2011074"/>
                  </a:cubicBezTo>
                  <a:lnTo>
                    <a:pt x="0" y="60004"/>
                  </a:lnTo>
                  <a:cubicBezTo>
                    <a:pt x="0" y="26864"/>
                    <a:pt x="26864" y="0"/>
                    <a:pt x="60004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398173" cy="2090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68131" y="9541258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5" r="-56015" b="-10124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5400000">
            <a:off x="15024111" y="6368800"/>
            <a:ext cx="5328985" cy="450015"/>
          </a:xfrm>
          <a:custGeom>
            <a:avLst/>
            <a:gdLst/>
            <a:ahLst/>
            <a:cxnLst/>
            <a:rect l="l" t="t" r="r" b="b"/>
            <a:pathLst>
              <a:path w="5328985" h="450015">
                <a:moveTo>
                  <a:pt x="0" y="0"/>
                </a:moveTo>
                <a:lnTo>
                  <a:pt x="5328985" y="0"/>
                </a:lnTo>
                <a:lnTo>
                  <a:pt x="5328985" y="450015"/>
                </a:lnTo>
                <a:lnTo>
                  <a:pt x="0" y="450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19" b="-94588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3384598"/>
            <a:ext cx="4157566" cy="400470"/>
          </a:xfrm>
          <a:custGeom>
            <a:avLst/>
            <a:gdLst/>
            <a:ahLst/>
            <a:cxnLst/>
            <a:rect l="l" t="t" r="r" b="b"/>
            <a:pathLst>
              <a:path w="4157566" h="400470">
                <a:moveTo>
                  <a:pt x="0" y="0"/>
                </a:moveTo>
                <a:lnTo>
                  <a:pt x="4157566" y="0"/>
                </a:lnTo>
                <a:lnTo>
                  <a:pt x="4157566" y="400470"/>
                </a:lnTo>
                <a:lnTo>
                  <a:pt x="0" y="400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81878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82099" y="1690226"/>
            <a:ext cx="8974225" cy="13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38"/>
              </a:lnSpc>
              <a:spcBef>
                <a:spcPct val="0"/>
              </a:spcBef>
            </a:pPr>
            <a:r>
              <a:rPr lang="en-US" sz="8846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2761" y="3729290"/>
            <a:ext cx="9571531" cy="633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System Under Test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Test Scope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Test Strategy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Manual Testing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API Automation (Postman + Newman)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Performance Testing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UI Automation (Selenium)</a:t>
            </a:r>
          </a:p>
          <a:p>
            <a:pPr marL="754374" lvl="1" indent="-377187" algn="l">
              <a:lnSpc>
                <a:spcPts val="6394"/>
              </a:lnSpc>
              <a:buAutoNum type="arabicPeriod"/>
            </a:pPr>
            <a:r>
              <a:rPr lang="en-US" sz="3494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02005" y="-1336578"/>
            <a:ext cx="18984835" cy="4866452"/>
            <a:chOff x="0" y="0"/>
            <a:chExt cx="5000121" cy="1281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0121" cy="1281699"/>
            </a:xfrm>
            <a:custGeom>
              <a:avLst/>
              <a:gdLst/>
              <a:ahLst/>
              <a:cxnLst/>
              <a:rect l="l" t="t" r="r" b="b"/>
              <a:pathLst>
                <a:path w="5000121" h="1281699">
                  <a:moveTo>
                    <a:pt x="40779" y="0"/>
                  </a:moveTo>
                  <a:lnTo>
                    <a:pt x="4959342" y="0"/>
                  </a:lnTo>
                  <a:cubicBezTo>
                    <a:pt x="4970157" y="0"/>
                    <a:pt x="4980529" y="4296"/>
                    <a:pt x="4988177" y="11944"/>
                  </a:cubicBezTo>
                  <a:cubicBezTo>
                    <a:pt x="4995825" y="19592"/>
                    <a:pt x="5000121" y="29964"/>
                    <a:pt x="5000121" y="40779"/>
                  </a:cubicBezTo>
                  <a:lnTo>
                    <a:pt x="5000121" y="1240920"/>
                  </a:lnTo>
                  <a:cubicBezTo>
                    <a:pt x="5000121" y="1263442"/>
                    <a:pt x="4981864" y="1281699"/>
                    <a:pt x="4959342" y="1281699"/>
                  </a:cubicBezTo>
                  <a:lnTo>
                    <a:pt x="40779" y="1281699"/>
                  </a:lnTo>
                  <a:cubicBezTo>
                    <a:pt x="18258" y="1281699"/>
                    <a:pt x="0" y="1263442"/>
                    <a:pt x="0" y="1240920"/>
                  </a:cubicBezTo>
                  <a:lnTo>
                    <a:pt x="0" y="40779"/>
                  </a:lnTo>
                  <a:cubicBezTo>
                    <a:pt x="0" y="18258"/>
                    <a:pt x="18258" y="0"/>
                    <a:pt x="40779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000121" cy="130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5542" y="9473881"/>
            <a:ext cx="3129661" cy="1177535"/>
          </a:xfrm>
          <a:custGeom>
            <a:avLst/>
            <a:gdLst/>
            <a:ahLst/>
            <a:cxnLst/>
            <a:rect l="l" t="t" r="r" b="b"/>
            <a:pathLst>
              <a:path w="3129661" h="1177535">
                <a:moveTo>
                  <a:pt x="0" y="0"/>
                </a:moveTo>
                <a:lnTo>
                  <a:pt x="3129661" y="0"/>
                </a:lnTo>
                <a:lnTo>
                  <a:pt x="3129661" y="1177535"/>
                </a:lnTo>
                <a:lnTo>
                  <a:pt x="0" y="117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305873" y="1171364"/>
            <a:ext cx="5112266" cy="492429"/>
          </a:xfrm>
          <a:custGeom>
            <a:avLst/>
            <a:gdLst/>
            <a:ahLst/>
            <a:cxnLst/>
            <a:rect l="l" t="t" r="r" b="b"/>
            <a:pathLst>
              <a:path w="5112266" h="492429">
                <a:moveTo>
                  <a:pt x="0" y="0"/>
                </a:moveTo>
                <a:lnTo>
                  <a:pt x="5112266" y="0"/>
                </a:lnTo>
                <a:lnTo>
                  <a:pt x="5112266" y="492429"/>
                </a:lnTo>
                <a:lnTo>
                  <a:pt x="0" y="492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1878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465542" y="4300177"/>
            <a:ext cx="4533364" cy="4369063"/>
            <a:chOff x="0" y="0"/>
            <a:chExt cx="926149" cy="892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26149" cy="892583"/>
            </a:xfrm>
            <a:custGeom>
              <a:avLst/>
              <a:gdLst/>
              <a:ahLst/>
              <a:cxnLst/>
              <a:rect l="l" t="t" r="r" b="b"/>
              <a:pathLst>
                <a:path w="926149" h="892583">
                  <a:moveTo>
                    <a:pt x="87096" y="0"/>
                  </a:moveTo>
                  <a:lnTo>
                    <a:pt x="839053" y="0"/>
                  </a:lnTo>
                  <a:cubicBezTo>
                    <a:pt x="862152" y="0"/>
                    <a:pt x="884305" y="9176"/>
                    <a:pt x="900639" y="25510"/>
                  </a:cubicBezTo>
                  <a:cubicBezTo>
                    <a:pt x="916973" y="41844"/>
                    <a:pt x="926149" y="63997"/>
                    <a:pt x="926149" y="87096"/>
                  </a:cubicBezTo>
                  <a:lnTo>
                    <a:pt x="926149" y="805487"/>
                  </a:lnTo>
                  <a:cubicBezTo>
                    <a:pt x="926149" y="828586"/>
                    <a:pt x="916973" y="850739"/>
                    <a:pt x="900639" y="867073"/>
                  </a:cubicBezTo>
                  <a:cubicBezTo>
                    <a:pt x="884305" y="883407"/>
                    <a:pt x="862152" y="892583"/>
                    <a:pt x="839053" y="892583"/>
                  </a:cubicBezTo>
                  <a:lnTo>
                    <a:pt x="87096" y="892583"/>
                  </a:lnTo>
                  <a:cubicBezTo>
                    <a:pt x="63997" y="892583"/>
                    <a:pt x="41844" y="883407"/>
                    <a:pt x="25510" y="867073"/>
                  </a:cubicBezTo>
                  <a:cubicBezTo>
                    <a:pt x="9176" y="850739"/>
                    <a:pt x="0" y="828586"/>
                    <a:pt x="0" y="805487"/>
                  </a:cubicBezTo>
                  <a:lnTo>
                    <a:pt x="0" y="87096"/>
                  </a:lnTo>
                  <a:cubicBezTo>
                    <a:pt x="0" y="63997"/>
                    <a:pt x="9176" y="41844"/>
                    <a:pt x="25510" y="25510"/>
                  </a:cubicBezTo>
                  <a:cubicBezTo>
                    <a:pt x="41844" y="9176"/>
                    <a:pt x="63997" y="0"/>
                    <a:pt x="8709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926149" cy="911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97793" y="5283966"/>
            <a:ext cx="2451490" cy="1378963"/>
          </a:xfrm>
          <a:custGeom>
            <a:avLst/>
            <a:gdLst/>
            <a:ahLst/>
            <a:cxnLst/>
            <a:rect l="l" t="t" r="r" b="b"/>
            <a:pathLst>
              <a:path w="2451490" h="1378963">
                <a:moveTo>
                  <a:pt x="0" y="0"/>
                </a:moveTo>
                <a:lnTo>
                  <a:pt x="2451490" y="0"/>
                </a:lnTo>
                <a:lnTo>
                  <a:pt x="2451490" y="1378963"/>
                </a:lnTo>
                <a:lnTo>
                  <a:pt x="0" y="1378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34671" y="4278120"/>
            <a:ext cx="4533364" cy="4369063"/>
            <a:chOff x="0" y="0"/>
            <a:chExt cx="926149" cy="8925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6149" cy="892583"/>
            </a:xfrm>
            <a:custGeom>
              <a:avLst/>
              <a:gdLst/>
              <a:ahLst/>
              <a:cxnLst/>
              <a:rect l="l" t="t" r="r" b="b"/>
              <a:pathLst>
                <a:path w="926149" h="892583">
                  <a:moveTo>
                    <a:pt x="87096" y="0"/>
                  </a:moveTo>
                  <a:lnTo>
                    <a:pt x="839053" y="0"/>
                  </a:lnTo>
                  <a:cubicBezTo>
                    <a:pt x="862152" y="0"/>
                    <a:pt x="884305" y="9176"/>
                    <a:pt x="900639" y="25510"/>
                  </a:cubicBezTo>
                  <a:cubicBezTo>
                    <a:pt x="916973" y="41844"/>
                    <a:pt x="926149" y="63997"/>
                    <a:pt x="926149" y="87096"/>
                  </a:cubicBezTo>
                  <a:lnTo>
                    <a:pt x="926149" y="805487"/>
                  </a:lnTo>
                  <a:cubicBezTo>
                    <a:pt x="926149" y="828586"/>
                    <a:pt x="916973" y="850739"/>
                    <a:pt x="900639" y="867073"/>
                  </a:cubicBezTo>
                  <a:cubicBezTo>
                    <a:pt x="884305" y="883407"/>
                    <a:pt x="862152" y="892583"/>
                    <a:pt x="839053" y="892583"/>
                  </a:cubicBezTo>
                  <a:lnTo>
                    <a:pt x="87096" y="892583"/>
                  </a:lnTo>
                  <a:cubicBezTo>
                    <a:pt x="63997" y="892583"/>
                    <a:pt x="41844" y="883407"/>
                    <a:pt x="25510" y="867073"/>
                  </a:cubicBezTo>
                  <a:cubicBezTo>
                    <a:pt x="9176" y="850739"/>
                    <a:pt x="0" y="828586"/>
                    <a:pt x="0" y="805487"/>
                  </a:cubicBezTo>
                  <a:lnTo>
                    <a:pt x="0" y="87096"/>
                  </a:lnTo>
                  <a:cubicBezTo>
                    <a:pt x="0" y="63997"/>
                    <a:pt x="9176" y="41844"/>
                    <a:pt x="25510" y="25510"/>
                  </a:cubicBezTo>
                  <a:cubicBezTo>
                    <a:pt x="41844" y="9176"/>
                    <a:pt x="63997" y="0"/>
                    <a:pt x="8709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926149" cy="911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718554" y="5701994"/>
            <a:ext cx="2565598" cy="498794"/>
          </a:xfrm>
          <a:custGeom>
            <a:avLst/>
            <a:gdLst/>
            <a:ahLst/>
            <a:cxnLst/>
            <a:rect l="l" t="t" r="r" b="b"/>
            <a:pathLst>
              <a:path w="2565598" h="498794">
                <a:moveTo>
                  <a:pt x="0" y="0"/>
                </a:moveTo>
                <a:lnTo>
                  <a:pt x="2565598" y="0"/>
                </a:lnTo>
                <a:lnTo>
                  <a:pt x="2565598" y="498794"/>
                </a:lnTo>
                <a:lnTo>
                  <a:pt x="0" y="498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8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301027" y="1473179"/>
            <a:ext cx="9809209" cy="107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7"/>
              </a:lnSpc>
              <a:spcBef>
                <a:spcPct val="0"/>
              </a:spcBef>
            </a:pPr>
            <a:r>
              <a:rPr lang="en-US" sz="7252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System Under Test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47187" y="4402443"/>
            <a:ext cx="3346176" cy="32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sz="2273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Background: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47187" y="5794900"/>
            <a:ext cx="3346176" cy="32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sz="2273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Relevance: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47187" y="7187516"/>
            <a:ext cx="3346176" cy="32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3"/>
              </a:lnSpc>
              <a:spcBef>
                <a:spcPct val="0"/>
              </a:spcBef>
            </a:pPr>
            <a:r>
              <a:rPr lang="en-US" sz="2273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Scope: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47187" y="4922410"/>
            <a:ext cx="7135642" cy="64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E-commerce QA across 2 layers: SauceDemo UI + DummyJSON API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63492" y="6315026"/>
            <a:ext cx="7607298" cy="96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624"/>
              </a:lnSpc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Protects the core journey</a:t>
            </a:r>
          </a:p>
          <a:p>
            <a:pPr marL="453388" lvl="1" indent="-226694" algn="l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(login → cart → checkout) from user-blocking issues.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47187" y="7631442"/>
            <a:ext cx="7135642" cy="96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624"/>
              </a:lnSpc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UI: Login, Products, Carts, Checkout</a:t>
            </a:r>
          </a:p>
          <a:p>
            <a:pPr marL="453388" lvl="1" indent="-226694" algn="l">
              <a:lnSpc>
                <a:spcPts val="2624"/>
              </a:lnSpc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API: Auth, Products, Carts, Users</a:t>
            </a:r>
          </a:p>
          <a:p>
            <a:pPr marL="453388" lvl="1" indent="-226694" algn="l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11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Methods: Manual, Automation, 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6838" y="6765109"/>
            <a:ext cx="3753400" cy="122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Login &amp; Authentincation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Browse Products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Add To Cart &amp; Checout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UI/UX Verification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5542" y="4782004"/>
            <a:ext cx="4533364" cy="50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235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Web UI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15967" y="6743052"/>
            <a:ext cx="4085300" cy="1225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Authentication Endpoints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Products (CRUD Operations)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Carts &amp; Users Resources</a:t>
            </a:r>
          </a:p>
          <a:p>
            <a:pPr marL="420198" lvl="1" indent="-210099" algn="l">
              <a:lnSpc>
                <a:spcPts val="2432"/>
              </a:lnSpc>
              <a:buFont typeface="Arial"/>
              <a:buChar char="•"/>
            </a:pPr>
            <a:r>
              <a:rPr lang="en-US" sz="194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API Stability &amp; Integrity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34671" y="4759947"/>
            <a:ext cx="4533364" cy="50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4"/>
              </a:lnSpc>
              <a:spcBef>
                <a:spcPct val="0"/>
              </a:spcBef>
            </a:pPr>
            <a:r>
              <a:rPr lang="en-US" sz="3235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Backend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57968" y="-2908172"/>
            <a:ext cx="17291680" cy="4300854"/>
            <a:chOff x="0" y="0"/>
            <a:chExt cx="4554187" cy="11327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4187" cy="1132735"/>
            </a:xfrm>
            <a:custGeom>
              <a:avLst/>
              <a:gdLst/>
              <a:ahLst/>
              <a:cxnLst/>
              <a:rect l="l" t="t" r="r" b="b"/>
              <a:pathLst>
                <a:path w="4554187" h="1132735">
                  <a:moveTo>
                    <a:pt x="44773" y="0"/>
                  </a:moveTo>
                  <a:lnTo>
                    <a:pt x="4509415" y="0"/>
                  </a:lnTo>
                  <a:cubicBezTo>
                    <a:pt x="4521289" y="0"/>
                    <a:pt x="4532677" y="4717"/>
                    <a:pt x="4541074" y="13114"/>
                  </a:cubicBezTo>
                  <a:cubicBezTo>
                    <a:pt x="4549470" y="21510"/>
                    <a:pt x="4554187" y="32898"/>
                    <a:pt x="4554187" y="44773"/>
                  </a:cubicBezTo>
                  <a:lnTo>
                    <a:pt x="4554187" y="1087963"/>
                  </a:lnTo>
                  <a:cubicBezTo>
                    <a:pt x="4554187" y="1112690"/>
                    <a:pt x="4534142" y="1132735"/>
                    <a:pt x="4509415" y="1132735"/>
                  </a:cubicBezTo>
                  <a:lnTo>
                    <a:pt x="44773" y="1132735"/>
                  </a:lnTo>
                  <a:cubicBezTo>
                    <a:pt x="32898" y="1132735"/>
                    <a:pt x="21510" y="1128018"/>
                    <a:pt x="13114" y="1119622"/>
                  </a:cubicBezTo>
                  <a:cubicBezTo>
                    <a:pt x="4717" y="1111225"/>
                    <a:pt x="0" y="1099837"/>
                    <a:pt x="0" y="1087963"/>
                  </a:cubicBezTo>
                  <a:lnTo>
                    <a:pt x="0" y="44773"/>
                  </a:lnTo>
                  <a:cubicBezTo>
                    <a:pt x="0" y="20045"/>
                    <a:pt x="20045" y="0"/>
                    <a:pt x="44773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554187" cy="1151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0032" y="8894966"/>
            <a:ext cx="2457968" cy="1392034"/>
          </a:xfrm>
          <a:custGeom>
            <a:avLst/>
            <a:gdLst/>
            <a:ahLst/>
            <a:cxnLst/>
            <a:rect l="l" t="t" r="r" b="b"/>
            <a:pathLst>
              <a:path w="2457968" h="1392034">
                <a:moveTo>
                  <a:pt x="0" y="0"/>
                </a:moveTo>
                <a:lnTo>
                  <a:pt x="2457968" y="0"/>
                </a:lnTo>
                <a:lnTo>
                  <a:pt x="2457968" y="1392034"/>
                </a:lnTo>
                <a:lnTo>
                  <a:pt x="0" y="139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r="-12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297946" y="2779522"/>
            <a:ext cx="5901869" cy="5876670"/>
            <a:chOff x="0" y="0"/>
            <a:chExt cx="1090992" cy="10863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0992" cy="1086334"/>
            </a:xfrm>
            <a:custGeom>
              <a:avLst/>
              <a:gdLst/>
              <a:ahLst/>
              <a:cxnLst/>
              <a:rect l="l" t="t" r="r" b="b"/>
              <a:pathLst>
                <a:path w="1090992" h="1086334">
                  <a:moveTo>
                    <a:pt x="66900" y="0"/>
                  </a:moveTo>
                  <a:lnTo>
                    <a:pt x="1024091" y="0"/>
                  </a:lnTo>
                  <a:cubicBezTo>
                    <a:pt x="1061039" y="0"/>
                    <a:pt x="1090992" y="29952"/>
                    <a:pt x="1090992" y="66900"/>
                  </a:cubicBezTo>
                  <a:lnTo>
                    <a:pt x="1090992" y="1019433"/>
                  </a:lnTo>
                  <a:cubicBezTo>
                    <a:pt x="1090992" y="1037176"/>
                    <a:pt x="1083943" y="1054193"/>
                    <a:pt x="1071397" y="1066739"/>
                  </a:cubicBezTo>
                  <a:cubicBezTo>
                    <a:pt x="1058851" y="1079285"/>
                    <a:pt x="1041834" y="1086334"/>
                    <a:pt x="1024091" y="1086334"/>
                  </a:cubicBezTo>
                  <a:lnTo>
                    <a:pt x="66900" y="1086334"/>
                  </a:lnTo>
                  <a:cubicBezTo>
                    <a:pt x="29952" y="1086334"/>
                    <a:pt x="0" y="1056381"/>
                    <a:pt x="0" y="1019433"/>
                  </a:cubicBezTo>
                  <a:lnTo>
                    <a:pt x="0" y="66900"/>
                  </a:lnTo>
                  <a:cubicBezTo>
                    <a:pt x="0" y="29952"/>
                    <a:pt x="29952" y="0"/>
                    <a:pt x="66900" y="0"/>
                  </a:cubicBezTo>
                  <a:close/>
                </a:path>
              </a:pathLst>
            </a:custGeom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90992" cy="1105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050404" y="3290196"/>
            <a:ext cx="4396953" cy="1021347"/>
            <a:chOff x="0" y="0"/>
            <a:chExt cx="812800" cy="1888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88801"/>
            </a:xfrm>
            <a:custGeom>
              <a:avLst/>
              <a:gdLst/>
              <a:ahLst/>
              <a:cxnLst/>
              <a:rect l="l" t="t" r="r" b="b"/>
              <a:pathLst>
                <a:path w="812800" h="188801">
                  <a:moveTo>
                    <a:pt x="89798" y="0"/>
                  </a:moveTo>
                  <a:lnTo>
                    <a:pt x="723002" y="0"/>
                  </a:lnTo>
                  <a:cubicBezTo>
                    <a:pt x="772596" y="0"/>
                    <a:pt x="812800" y="40204"/>
                    <a:pt x="812800" y="89798"/>
                  </a:cubicBezTo>
                  <a:lnTo>
                    <a:pt x="812800" y="99003"/>
                  </a:lnTo>
                  <a:cubicBezTo>
                    <a:pt x="812800" y="122819"/>
                    <a:pt x="803339" y="145660"/>
                    <a:pt x="786499" y="162500"/>
                  </a:cubicBezTo>
                  <a:cubicBezTo>
                    <a:pt x="769658" y="179341"/>
                    <a:pt x="746818" y="188801"/>
                    <a:pt x="723002" y="188801"/>
                  </a:cubicBezTo>
                  <a:lnTo>
                    <a:pt x="89798" y="188801"/>
                  </a:lnTo>
                  <a:cubicBezTo>
                    <a:pt x="40204" y="188801"/>
                    <a:pt x="0" y="148597"/>
                    <a:pt x="0" y="99003"/>
                  </a:cubicBezTo>
                  <a:lnTo>
                    <a:pt x="0" y="89798"/>
                  </a:lnTo>
                  <a:cubicBezTo>
                    <a:pt x="0" y="40204"/>
                    <a:pt x="40204" y="0"/>
                    <a:pt x="89798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12800" cy="207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Scope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83713" y="2779846"/>
            <a:ext cx="5901869" cy="5876670"/>
            <a:chOff x="0" y="0"/>
            <a:chExt cx="1090992" cy="10863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992" cy="1086334"/>
            </a:xfrm>
            <a:custGeom>
              <a:avLst/>
              <a:gdLst/>
              <a:ahLst/>
              <a:cxnLst/>
              <a:rect l="l" t="t" r="r" b="b"/>
              <a:pathLst>
                <a:path w="1090992" h="1086334">
                  <a:moveTo>
                    <a:pt x="66900" y="0"/>
                  </a:moveTo>
                  <a:lnTo>
                    <a:pt x="1024091" y="0"/>
                  </a:lnTo>
                  <a:cubicBezTo>
                    <a:pt x="1061039" y="0"/>
                    <a:pt x="1090992" y="29952"/>
                    <a:pt x="1090992" y="66900"/>
                  </a:cubicBezTo>
                  <a:lnTo>
                    <a:pt x="1090992" y="1019433"/>
                  </a:lnTo>
                  <a:cubicBezTo>
                    <a:pt x="1090992" y="1037176"/>
                    <a:pt x="1083943" y="1054193"/>
                    <a:pt x="1071397" y="1066739"/>
                  </a:cubicBezTo>
                  <a:cubicBezTo>
                    <a:pt x="1058851" y="1079285"/>
                    <a:pt x="1041834" y="1086334"/>
                    <a:pt x="1024091" y="1086334"/>
                  </a:cubicBezTo>
                  <a:lnTo>
                    <a:pt x="66900" y="1086334"/>
                  </a:lnTo>
                  <a:cubicBezTo>
                    <a:pt x="29952" y="1086334"/>
                    <a:pt x="0" y="1056381"/>
                    <a:pt x="0" y="1019433"/>
                  </a:cubicBezTo>
                  <a:lnTo>
                    <a:pt x="0" y="66900"/>
                  </a:lnTo>
                  <a:cubicBezTo>
                    <a:pt x="0" y="29952"/>
                    <a:pt x="29952" y="0"/>
                    <a:pt x="66900" y="0"/>
                  </a:cubicBezTo>
                  <a:close/>
                </a:path>
              </a:pathLst>
            </a:custGeom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090992" cy="1105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85221" y="3250354"/>
            <a:ext cx="4396953" cy="1021347"/>
            <a:chOff x="0" y="0"/>
            <a:chExt cx="812800" cy="188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88801"/>
            </a:xfrm>
            <a:custGeom>
              <a:avLst/>
              <a:gdLst/>
              <a:ahLst/>
              <a:cxnLst/>
              <a:rect l="l" t="t" r="r" b="b"/>
              <a:pathLst>
                <a:path w="812800" h="188801">
                  <a:moveTo>
                    <a:pt x="89798" y="0"/>
                  </a:moveTo>
                  <a:lnTo>
                    <a:pt x="723002" y="0"/>
                  </a:lnTo>
                  <a:cubicBezTo>
                    <a:pt x="772596" y="0"/>
                    <a:pt x="812800" y="40204"/>
                    <a:pt x="812800" y="89798"/>
                  </a:cubicBezTo>
                  <a:lnTo>
                    <a:pt x="812800" y="99003"/>
                  </a:lnTo>
                  <a:cubicBezTo>
                    <a:pt x="812800" y="122819"/>
                    <a:pt x="803339" y="145660"/>
                    <a:pt x="786499" y="162500"/>
                  </a:cubicBezTo>
                  <a:cubicBezTo>
                    <a:pt x="769658" y="179341"/>
                    <a:pt x="746818" y="188801"/>
                    <a:pt x="723002" y="188801"/>
                  </a:cubicBezTo>
                  <a:lnTo>
                    <a:pt x="89798" y="188801"/>
                  </a:lnTo>
                  <a:cubicBezTo>
                    <a:pt x="40204" y="188801"/>
                    <a:pt x="0" y="148597"/>
                    <a:pt x="0" y="99003"/>
                  </a:cubicBezTo>
                  <a:lnTo>
                    <a:pt x="0" y="89798"/>
                  </a:lnTo>
                  <a:cubicBezTo>
                    <a:pt x="0" y="40204"/>
                    <a:pt x="40204" y="0"/>
                    <a:pt x="89798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812800" cy="207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Evidence Produced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57968" y="285185"/>
            <a:ext cx="15830032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8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QA Strategy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97946" y="4696003"/>
            <a:ext cx="5794968" cy="315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965" lvl="1" indent="-267982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Authentication &amp; session stability</a:t>
            </a:r>
          </a:p>
          <a:p>
            <a:pPr marL="535965" lvl="1" indent="-267982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Cart state &amp; checkout completion</a:t>
            </a:r>
          </a:p>
          <a:p>
            <a:pPr marL="535965" lvl="1" indent="-267982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 listing &amp; sorting correctness</a:t>
            </a:r>
          </a:p>
          <a:p>
            <a:pPr marL="535965" lvl="1" indent="-267982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API correctness (auth, products, carts, users)</a:t>
            </a:r>
          </a:p>
          <a:p>
            <a:pPr marL="535965" lvl="1" indent="-267982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Performance: latency, throughput, error rate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83713" y="4696004"/>
            <a:ext cx="5850919" cy="315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975" lvl="1" indent="-267987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Manual test cases + defect log (severity + Location + repro)</a:t>
            </a:r>
          </a:p>
          <a:p>
            <a:pPr marL="535975" lvl="1" indent="-267987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API automation results (Newman report)</a:t>
            </a:r>
          </a:p>
          <a:p>
            <a:pPr marL="535975" lvl="1" indent="-267987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k6 performance metrics (p95 latency, throughput, errors)</a:t>
            </a:r>
          </a:p>
          <a:p>
            <a:pPr marL="535975" lvl="1" indent="-267987" algn="l">
              <a:lnSpc>
                <a:spcPts val="3103"/>
              </a:lnSpc>
              <a:buFont typeface="Arial"/>
              <a:buChar char="•"/>
            </a:pPr>
            <a:r>
              <a:rPr lang="en-US" sz="2482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UI regression suite coverage (Selenium/TestNG)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1461648" y="8894966"/>
            <a:ext cx="17291680" cy="4300854"/>
            <a:chOff x="0" y="0"/>
            <a:chExt cx="4554187" cy="11327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54187" cy="1132735"/>
            </a:xfrm>
            <a:custGeom>
              <a:avLst/>
              <a:gdLst/>
              <a:ahLst/>
              <a:cxnLst/>
              <a:rect l="l" t="t" r="r" b="b"/>
              <a:pathLst>
                <a:path w="4554187" h="1132735">
                  <a:moveTo>
                    <a:pt x="44773" y="0"/>
                  </a:moveTo>
                  <a:lnTo>
                    <a:pt x="4509415" y="0"/>
                  </a:lnTo>
                  <a:cubicBezTo>
                    <a:pt x="4521289" y="0"/>
                    <a:pt x="4532677" y="4717"/>
                    <a:pt x="4541074" y="13114"/>
                  </a:cubicBezTo>
                  <a:cubicBezTo>
                    <a:pt x="4549470" y="21510"/>
                    <a:pt x="4554187" y="32898"/>
                    <a:pt x="4554187" y="44773"/>
                  </a:cubicBezTo>
                  <a:lnTo>
                    <a:pt x="4554187" y="1087963"/>
                  </a:lnTo>
                  <a:cubicBezTo>
                    <a:pt x="4554187" y="1112690"/>
                    <a:pt x="4534142" y="1132735"/>
                    <a:pt x="4509415" y="1132735"/>
                  </a:cubicBezTo>
                  <a:lnTo>
                    <a:pt x="44773" y="1132735"/>
                  </a:lnTo>
                  <a:cubicBezTo>
                    <a:pt x="32898" y="1132735"/>
                    <a:pt x="21510" y="1128018"/>
                    <a:pt x="13114" y="1119622"/>
                  </a:cubicBezTo>
                  <a:cubicBezTo>
                    <a:pt x="4717" y="1111225"/>
                    <a:pt x="0" y="1099837"/>
                    <a:pt x="0" y="1087963"/>
                  </a:cubicBezTo>
                  <a:lnTo>
                    <a:pt x="0" y="44773"/>
                  </a:lnTo>
                  <a:cubicBezTo>
                    <a:pt x="0" y="20045"/>
                    <a:pt x="20045" y="0"/>
                    <a:pt x="44773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554187" cy="1151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512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0" y="9215063"/>
            <a:ext cx="15830032" cy="72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46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Risk-based strategy (SDLC/STLC)</a:t>
            </a:r>
          </a:p>
        </p:txBody>
      </p:sp>
      <p:sp>
        <p:nvSpPr>
          <p:cNvPr id="25" name="Freeform 25"/>
          <p:cNvSpPr/>
          <p:nvPr/>
        </p:nvSpPr>
        <p:spPr>
          <a:xfrm rot="-10800000">
            <a:off x="0" y="25413"/>
            <a:ext cx="2457968" cy="1392034"/>
          </a:xfrm>
          <a:custGeom>
            <a:avLst/>
            <a:gdLst/>
            <a:ahLst/>
            <a:cxnLst/>
            <a:rect l="l" t="t" r="r" b="b"/>
            <a:pathLst>
              <a:path w="2457968" h="1392034">
                <a:moveTo>
                  <a:pt x="0" y="0"/>
                </a:moveTo>
                <a:lnTo>
                  <a:pt x="2457968" y="0"/>
                </a:lnTo>
                <a:lnTo>
                  <a:pt x="2457968" y="1392034"/>
                </a:lnTo>
                <a:lnTo>
                  <a:pt x="0" y="1392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r="-125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97809" y="-808321"/>
            <a:ext cx="5202118" cy="2782028"/>
            <a:chOff x="0" y="0"/>
            <a:chExt cx="1370105" cy="732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75656" y="935097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695" r="-56015" b="-10124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2326625" y="8359715"/>
            <a:ext cx="5202118" cy="2782028"/>
            <a:chOff x="0" y="0"/>
            <a:chExt cx="1370105" cy="732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0105" cy="732715"/>
            </a:xfrm>
            <a:custGeom>
              <a:avLst/>
              <a:gdLst/>
              <a:ahLst/>
              <a:cxnLst/>
              <a:rect l="l" t="t" r="r" b="b"/>
              <a:pathLst>
                <a:path w="1370105" h="732715">
                  <a:moveTo>
                    <a:pt x="148822" y="0"/>
                  </a:moveTo>
                  <a:lnTo>
                    <a:pt x="1221283" y="0"/>
                  </a:lnTo>
                  <a:cubicBezTo>
                    <a:pt x="1260753" y="0"/>
                    <a:pt x="1298606" y="15679"/>
                    <a:pt x="1326516" y="43589"/>
                  </a:cubicBezTo>
                  <a:cubicBezTo>
                    <a:pt x="1354426" y="71499"/>
                    <a:pt x="1370105" y="109352"/>
                    <a:pt x="1370105" y="148822"/>
                  </a:cubicBezTo>
                  <a:lnTo>
                    <a:pt x="1370105" y="583893"/>
                  </a:lnTo>
                  <a:cubicBezTo>
                    <a:pt x="1370105" y="623363"/>
                    <a:pt x="1354426" y="661217"/>
                    <a:pt x="1326516" y="689126"/>
                  </a:cubicBezTo>
                  <a:cubicBezTo>
                    <a:pt x="1298606" y="717036"/>
                    <a:pt x="1260753" y="732715"/>
                    <a:pt x="1221283" y="732715"/>
                  </a:cubicBezTo>
                  <a:lnTo>
                    <a:pt x="148822" y="732715"/>
                  </a:lnTo>
                  <a:cubicBezTo>
                    <a:pt x="109352" y="732715"/>
                    <a:pt x="71499" y="717036"/>
                    <a:pt x="43589" y="689126"/>
                  </a:cubicBezTo>
                  <a:cubicBezTo>
                    <a:pt x="15679" y="661217"/>
                    <a:pt x="0" y="623363"/>
                    <a:pt x="0" y="583893"/>
                  </a:cubicBezTo>
                  <a:lnTo>
                    <a:pt x="0" y="148822"/>
                  </a:lnTo>
                  <a:cubicBezTo>
                    <a:pt x="0" y="109352"/>
                    <a:pt x="15679" y="71499"/>
                    <a:pt x="43589" y="43589"/>
                  </a:cubicBezTo>
                  <a:cubicBezTo>
                    <a:pt x="71499" y="15679"/>
                    <a:pt x="109352" y="0"/>
                    <a:pt x="148822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70105" cy="751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9228522"/>
            <a:ext cx="2875493" cy="522207"/>
          </a:xfrm>
          <a:custGeom>
            <a:avLst/>
            <a:gdLst/>
            <a:ahLst/>
            <a:cxnLst/>
            <a:rect l="l" t="t" r="r" b="b"/>
            <a:pathLst>
              <a:path w="2875493" h="522207">
                <a:moveTo>
                  <a:pt x="0" y="0"/>
                </a:moveTo>
                <a:lnTo>
                  <a:pt x="2875493" y="0"/>
                </a:lnTo>
                <a:lnTo>
                  <a:pt x="2875493" y="522207"/>
                </a:lnTo>
                <a:lnTo>
                  <a:pt x="0" y="52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788" r="-51032" b="-10124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6098" y="498852"/>
            <a:ext cx="13811711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0"/>
              </a:lnSpc>
              <a:spcBef>
                <a:spcPct val="0"/>
              </a:spcBef>
            </a:pPr>
            <a:r>
              <a:rPr lang="en-US" sz="6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Manual Testing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098" y="1438254"/>
            <a:ext cx="10384185" cy="39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23 Tests Executed, 15 Passed Tests, 8 Failed Tests (65% Pass Rate)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5147" y="1464775"/>
            <a:ext cx="7501764" cy="5170022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722" y="5760666"/>
            <a:ext cx="6084152" cy="493375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335632" y="2609979"/>
            <a:ext cx="8392418" cy="2052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sz="22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Coverage</a:t>
            </a: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:</a:t>
            </a:r>
          </a:p>
          <a:p>
            <a:pPr marL="477068" lvl="1" indent="-238534" algn="l">
              <a:lnSpc>
                <a:spcPts val="2762"/>
              </a:lnSpc>
              <a:buFont typeface="Arial"/>
              <a:buChar char="•"/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Authentication: login (valid/invalid), locked user behavior</a:t>
            </a:r>
          </a:p>
          <a:p>
            <a:pPr marL="477068" lvl="1" indent="-238534" algn="l">
              <a:lnSpc>
                <a:spcPts val="2762"/>
              </a:lnSpc>
              <a:buFont typeface="Arial"/>
              <a:buChar char="•"/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Products: browse, sorting, product details</a:t>
            </a:r>
          </a:p>
          <a:p>
            <a:pPr marL="477068" lvl="1" indent="-238534" algn="l">
              <a:lnSpc>
                <a:spcPts val="2762"/>
              </a:lnSpc>
              <a:buFont typeface="Arial"/>
              <a:buChar char="•"/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Cart: add/remove, quantity/badge updates</a:t>
            </a:r>
          </a:p>
          <a:p>
            <a:pPr marL="477068" lvl="1" indent="-238534" algn="l">
              <a:lnSpc>
                <a:spcPts val="2762"/>
              </a:lnSpc>
              <a:buFont typeface="Arial"/>
              <a:buChar char="•"/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Checkout: information step, completion flow</a:t>
            </a:r>
          </a:p>
          <a:p>
            <a:pPr marL="477068" lvl="1" indent="-238534" algn="l">
              <a:lnSpc>
                <a:spcPts val="2762"/>
              </a:lnSpc>
              <a:buFont typeface="Arial"/>
              <a:buChar char="•"/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UI/UX: layout/visual checks, error messaging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43512" y="5301048"/>
            <a:ext cx="9210034" cy="432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5"/>
              </a:lnSpc>
              <a:spcBef>
                <a:spcPct val="0"/>
              </a:spcBef>
            </a:pPr>
            <a:r>
              <a:rPr lang="en-US" sz="2116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Defects Identified: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Checkout (Critical) error_user: Last Name input rejected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Checkout (Critical) problem_user: input goes to wrong field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Cart (High) problem_user: Remove not working / badge not updating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Products (High) problem_user: Sorting broken (low → high)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UI/Visual (Medium) visual_user: layout/alignment issues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Performance (Medium) performance_user: slow page loads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 details (Medium) problem_user: incorrect product images</a:t>
            </a:r>
          </a:p>
          <a:p>
            <a:pPr marL="456985" lvl="1" indent="-228492" algn="l">
              <a:lnSpc>
                <a:spcPts val="2645"/>
              </a:lnSpc>
              <a:spcBef>
                <a:spcPct val="0"/>
              </a:spcBef>
              <a:buFont typeface="Arial"/>
              <a:buChar char="•"/>
            </a:pPr>
            <a:r>
              <a:rPr lang="en-US" sz="2116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Checkout flow (Medium) standard_user: checkout allowed with empty cart</a:t>
            </a:r>
          </a:p>
          <a:p>
            <a:pPr algn="l">
              <a:lnSpc>
                <a:spcPts val="2645"/>
              </a:lnSpc>
              <a:spcBef>
                <a:spcPct val="0"/>
              </a:spcBef>
            </a:pPr>
            <a:endParaRPr lang="en-US" sz="2116">
              <a:solidFill>
                <a:srgbClr val="1C2011"/>
              </a:solidFill>
              <a:latin typeface="Gordita"/>
              <a:ea typeface="Gordita"/>
              <a:cs typeface="Gordita"/>
              <a:sym typeface="Gordit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12302"/>
            <a:ext cx="2783644" cy="522207"/>
          </a:xfrm>
          <a:custGeom>
            <a:avLst/>
            <a:gdLst/>
            <a:ahLst/>
            <a:cxnLst/>
            <a:rect l="l" t="t" r="r" b="b"/>
            <a:pathLst>
              <a:path w="2783644" h="522207">
                <a:moveTo>
                  <a:pt x="0" y="0"/>
                </a:moveTo>
                <a:lnTo>
                  <a:pt x="2783644" y="0"/>
                </a:lnTo>
                <a:lnTo>
                  <a:pt x="2783644" y="522206"/>
                </a:lnTo>
                <a:lnTo>
                  <a:pt x="0" y="522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695" r="-56015" b="-10124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259300" y="9258300"/>
            <a:ext cx="1011107" cy="1026504"/>
          </a:xfrm>
          <a:custGeom>
            <a:avLst/>
            <a:gdLst/>
            <a:ahLst/>
            <a:cxnLst/>
            <a:rect l="l" t="t" r="r" b="b"/>
            <a:pathLst>
              <a:path w="1011107" h="1026504">
                <a:moveTo>
                  <a:pt x="0" y="0"/>
                </a:moveTo>
                <a:lnTo>
                  <a:pt x="1011107" y="0"/>
                </a:lnTo>
                <a:lnTo>
                  <a:pt x="1011107" y="1026504"/>
                </a:lnTo>
                <a:lnTo>
                  <a:pt x="0" y="1026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916954" y="1431547"/>
            <a:ext cx="883551" cy="783047"/>
          </a:xfrm>
          <a:custGeom>
            <a:avLst/>
            <a:gdLst/>
            <a:ahLst/>
            <a:cxnLst/>
            <a:rect l="l" t="t" r="r" b="b"/>
            <a:pathLst>
              <a:path w="883551" h="783047">
                <a:moveTo>
                  <a:pt x="0" y="0"/>
                </a:moveTo>
                <a:lnTo>
                  <a:pt x="883551" y="0"/>
                </a:lnTo>
                <a:lnTo>
                  <a:pt x="883551" y="783048"/>
                </a:lnTo>
                <a:lnTo>
                  <a:pt x="0" y="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67489" y="1431547"/>
            <a:ext cx="883551" cy="783047"/>
          </a:xfrm>
          <a:custGeom>
            <a:avLst/>
            <a:gdLst/>
            <a:ahLst/>
            <a:cxnLst/>
            <a:rect l="l" t="t" r="r" b="b"/>
            <a:pathLst>
              <a:path w="883551" h="783047">
                <a:moveTo>
                  <a:pt x="0" y="0"/>
                </a:moveTo>
                <a:lnTo>
                  <a:pt x="883551" y="0"/>
                </a:lnTo>
                <a:lnTo>
                  <a:pt x="883551" y="783048"/>
                </a:lnTo>
                <a:lnTo>
                  <a:pt x="0" y="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043860" y="1378207"/>
            <a:ext cx="783047" cy="783047"/>
          </a:xfrm>
          <a:custGeom>
            <a:avLst/>
            <a:gdLst/>
            <a:ahLst/>
            <a:cxnLst/>
            <a:rect l="l" t="t" r="r" b="b"/>
            <a:pathLst>
              <a:path w="783047" h="783047">
                <a:moveTo>
                  <a:pt x="0" y="0"/>
                </a:moveTo>
                <a:lnTo>
                  <a:pt x="783047" y="0"/>
                </a:lnTo>
                <a:lnTo>
                  <a:pt x="783047" y="783048"/>
                </a:lnTo>
                <a:lnTo>
                  <a:pt x="0" y="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916954" y="4008095"/>
            <a:ext cx="4277741" cy="2266493"/>
            <a:chOff x="0" y="0"/>
            <a:chExt cx="1126648" cy="5969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6648" cy="596936"/>
            </a:xfrm>
            <a:custGeom>
              <a:avLst/>
              <a:gdLst/>
              <a:ahLst/>
              <a:cxnLst/>
              <a:rect l="l" t="t" r="r" b="b"/>
              <a:pathLst>
                <a:path w="1126648" h="596936">
                  <a:moveTo>
                    <a:pt x="0" y="0"/>
                  </a:moveTo>
                  <a:lnTo>
                    <a:pt x="1126648" y="0"/>
                  </a:lnTo>
                  <a:lnTo>
                    <a:pt x="1126648" y="596936"/>
                  </a:lnTo>
                  <a:lnTo>
                    <a:pt x="0" y="596936"/>
                  </a:lnTo>
                  <a:close/>
                </a:path>
              </a:pathLst>
            </a:custGeom>
            <a:solidFill>
              <a:srgbClr val="F1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26648" cy="606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Checkout → Your Information (error_user)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Last Name field rejects input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Impact: Cannot continue → purchase blocked</a:t>
              </a:r>
            </a:p>
            <a:p>
              <a:pPr algn="l">
                <a:lnSpc>
                  <a:spcPts val="3137"/>
                </a:lnSpc>
              </a:pPr>
              <a:endParaRPr lang="en-US" sz="1709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83644" y="137160"/>
            <a:ext cx="614808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Key Defects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12863" y="1695916"/>
            <a:ext cx="2145368" cy="51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41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2 Critical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6954" y="2447657"/>
            <a:ext cx="4277741" cy="68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Checkout blockers preventing completion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60590" y="1695916"/>
            <a:ext cx="1434051" cy="51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41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2 High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3023" y="2447657"/>
            <a:ext cx="4277741" cy="68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Core shopping functionality broken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36457" y="1642576"/>
            <a:ext cx="2225419" cy="51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411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4 Medium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93305" y="2394317"/>
            <a:ext cx="4277741" cy="68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2"/>
              </a:lnSpc>
              <a:spcBef>
                <a:spcPct val="0"/>
              </a:spcBef>
            </a:pPr>
            <a:r>
              <a:rPr lang="en-US" sz="22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Visual, performance, and UX issues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916954" y="3319451"/>
            <a:ext cx="4277741" cy="624814"/>
            <a:chOff x="0" y="0"/>
            <a:chExt cx="1126648" cy="164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26648" cy="164560"/>
            </a:xfrm>
            <a:custGeom>
              <a:avLst/>
              <a:gdLst/>
              <a:ahLst/>
              <a:cxnLst/>
              <a:rect l="l" t="t" r="r" b="b"/>
              <a:pathLst>
                <a:path w="1126648" h="164560">
                  <a:moveTo>
                    <a:pt x="0" y="0"/>
                  </a:moveTo>
                  <a:lnTo>
                    <a:pt x="1126648" y="0"/>
                  </a:lnTo>
                  <a:lnTo>
                    <a:pt x="1126648" y="164560"/>
                  </a:lnTo>
                  <a:lnTo>
                    <a:pt x="0" y="164560"/>
                  </a:lnTo>
                  <a:close/>
                </a:path>
              </a:pathLst>
            </a:custGeom>
            <a:solidFill>
              <a:srgbClr val="F1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126648" cy="18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Last Name input rejected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36092" y="7217563"/>
            <a:ext cx="4277741" cy="2199818"/>
            <a:chOff x="0" y="0"/>
            <a:chExt cx="1126648" cy="5793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26648" cy="579376"/>
            </a:xfrm>
            <a:custGeom>
              <a:avLst/>
              <a:gdLst/>
              <a:ahLst/>
              <a:cxnLst/>
              <a:rect l="l" t="t" r="r" b="b"/>
              <a:pathLst>
                <a:path w="1126648" h="579376">
                  <a:moveTo>
                    <a:pt x="0" y="0"/>
                  </a:moveTo>
                  <a:lnTo>
                    <a:pt x="1126648" y="0"/>
                  </a:lnTo>
                  <a:lnTo>
                    <a:pt x="1126648" y="579376"/>
                  </a:lnTo>
                  <a:lnTo>
                    <a:pt x="0" y="579376"/>
                  </a:lnTo>
                  <a:close/>
                </a:path>
              </a:pathLst>
            </a:custGeom>
            <a:solidFill>
              <a:srgbClr val="F1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126648" cy="58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Checkout → Your Information (problem_user)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typing goes to First Name / Last Name not accepted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Impact: Form fails → checkout blocked</a:t>
              </a:r>
            </a:p>
            <a:p>
              <a:pPr algn="l">
                <a:lnSpc>
                  <a:spcPts val="3137"/>
                </a:lnSpc>
              </a:pPr>
              <a:endParaRPr lang="en-US" sz="1709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36092" y="6528919"/>
            <a:ext cx="4277741" cy="624814"/>
            <a:chOff x="0" y="0"/>
            <a:chExt cx="1126648" cy="1645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26648" cy="164560"/>
            </a:xfrm>
            <a:custGeom>
              <a:avLst/>
              <a:gdLst/>
              <a:ahLst/>
              <a:cxnLst/>
              <a:rect l="l" t="t" r="r" b="b"/>
              <a:pathLst>
                <a:path w="1126648" h="164560">
                  <a:moveTo>
                    <a:pt x="0" y="0"/>
                  </a:moveTo>
                  <a:lnTo>
                    <a:pt x="1126648" y="0"/>
                  </a:lnTo>
                  <a:lnTo>
                    <a:pt x="1126648" y="164560"/>
                  </a:lnTo>
                  <a:lnTo>
                    <a:pt x="0" y="164560"/>
                  </a:lnTo>
                  <a:close/>
                </a:path>
              </a:pathLst>
            </a:custGeom>
            <a:solidFill>
              <a:srgbClr val="F1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126648" cy="18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Input goes to wrong field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66854" y="4008095"/>
            <a:ext cx="4277741" cy="2266493"/>
            <a:chOff x="0" y="0"/>
            <a:chExt cx="1126648" cy="5969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26648" cy="596936"/>
            </a:xfrm>
            <a:custGeom>
              <a:avLst/>
              <a:gdLst/>
              <a:ahLst/>
              <a:cxnLst/>
              <a:rect l="l" t="t" r="r" b="b"/>
              <a:pathLst>
                <a:path w="1126648" h="596936">
                  <a:moveTo>
                    <a:pt x="0" y="0"/>
                  </a:moveTo>
                  <a:lnTo>
                    <a:pt x="1126648" y="0"/>
                  </a:lnTo>
                  <a:lnTo>
                    <a:pt x="1126648" y="596936"/>
                  </a:lnTo>
                  <a:lnTo>
                    <a:pt x="0" y="596936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126648" cy="606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Cart / Inventory item (problem_user)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Remove not clickable; badge not updated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Impact: Cart unreliable → shopping disrupted</a:t>
              </a:r>
            </a:p>
            <a:p>
              <a:pPr algn="l">
                <a:lnSpc>
                  <a:spcPts val="3137"/>
                </a:lnSpc>
              </a:pPr>
              <a:endParaRPr lang="en-US" sz="1709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67489" y="3319451"/>
            <a:ext cx="4277741" cy="624814"/>
            <a:chOff x="0" y="0"/>
            <a:chExt cx="1126648" cy="1645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6648" cy="164560"/>
            </a:xfrm>
            <a:custGeom>
              <a:avLst/>
              <a:gdLst/>
              <a:ahLst/>
              <a:cxnLst/>
              <a:rect l="l" t="t" r="r" b="b"/>
              <a:pathLst>
                <a:path w="1126648" h="164560">
                  <a:moveTo>
                    <a:pt x="0" y="0"/>
                  </a:moveTo>
                  <a:lnTo>
                    <a:pt x="1126648" y="0"/>
                  </a:lnTo>
                  <a:lnTo>
                    <a:pt x="1126648" y="164560"/>
                  </a:lnTo>
                  <a:lnTo>
                    <a:pt x="0" y="164560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126648" cy="18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Cart state not updating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86626" y="7217563"/>
            <a:ext cx="4277741" cy="2199818"/>
            <a:chOff x="0" y="0"/>
            <a:chExt cx="1126648" cy="5793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26648" cy="579376"/>
            </a:xfrm>
            <a:custGeom>
              <a:avLst/>
              <a:gdLst/>
              <a:ahLst/>
              <a:cxnLst/>
              <a:rect l="l" t="t" r="r" b="b"/>
              <a:pathLst>
                <a:path w="1126648" h="579376">
                  <a:moveTo>
                    <a:pt x="0" y="0"/>
                  </a:moveTo>
                  <a:lnTo>
                    <a:pt x="1126648" y="0"/>
                  </a:lnTo>
                  <a:lnTo>
                    <a:pt x="1126648" y="579376"/>
                  </a:lnTo>
                  <a:lnTo>
                    <a:pt x="0" y="579376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126648" cy="58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Products page → Sort dropdown (problem_user)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Price low→high not applied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Impact: Wrong ordering → discovery/trust reduced</a:t>
              </a:r>
            </a:p>
            <a:p>
              <a:pPr algn="l">
                <a:lnSpc>
                  <a:spcPts val="3137"/>
                </a:lnSpc>
              </a:pPr>
              <a:endParaRPr lang="en-US" sz="1709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86626" y="6528919"/>
            <a:ext cx="4277741" cy="624814"/>
            <a:chOff x="0" y="0"/>
            <a:chExt cx="1126648" cy="1645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26648" cy="164560"/>
            </a:xfrm>
            <a:custGeom>
              <a:avLst/>
              <a:gdLst/>
              <a:ahLst/>
              <a:cxnLst/>
              <a:rect l="l" t="t" r="r" b="b"/>
              <a:pathLst>
                <a:path w="1126648" h="164560">
                  <a:moveTo>
                    <a:pt x="0" y="0"/>
                  </a:moveTo>
                  <a:lnTo>
                    <a:pt x="1126648" y="0"/>
                  </a:lnTo>
                  <a:lnTo>
                    <a:pt x="1126648" y="164560"/>
                  </a:lnTo>
                  <a:lnTo>
                    <a:pt x="0" y="164560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126648" cy="18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r>
                <a:rPr lang="en-US" sz="25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Sorting not applied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043860" y="4008095"/>
            <a:ext cx="4277741" cy="2330323"/>
            <a:chOff x="0" y="0"/>
            <a:chExt cx="1126648" cy="6137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6648" cy="613748"/>
            </a:xfrm>
            <a:custGeom>
              <a:avLst/>
              <a:gdLst/>
              <a:ahLst/>
              <a:cxnLst/>
              <a:rect l="l" t="t" r="r" b="b"/>
              <a:pathLst>
                <a:path w="1126648" h="613748">
                  <a:moveTo>
                    <a:pt x="0" y="0"/>
                  </a:moveTo>
                  <a:lnTo>
                    <a:pt x="1126648" y="0"/>
                  </a:lnTo>
                  <a:lnTo>
                    <a:pt x="1126648" y="613748"/>
                  </a:lnTo>
                  <a:lnTo>
                    <a:pt x="0" y="613748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1126648" cy="623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Inventory UI (visual_user)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layout/alignment issues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Product details (problem_user)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image mismatch vs product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43860" y="3351604"/>
            <a:ext cx="4288911" cy="592660"/>
            <a:chOff x="0" y="0"/>
            <a:chExt cx="1129590" cy="1560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29590" cy="156092"/>
            </a:xfrm>
            <a:custGeom>
              <a:avLst/>
              <a:gdLst/>
              <a:ahLst/>
              <a:cxnLst/>
              <a:rect l="l" t="t" r="r" b="b"/>
              <a:pathLst>
                <a:path w="1129590" h="156092">
                  <a:moveTo>
                    <a:pt x="0" y="0"/>
                  </a:moveTo>
                  <a:lnTo>
                    <a:pt x="1129590" y="0"/>
                  </a:lnTo>
                  <a:lnTo>
                    <a:pt x="1129590" y="156092"/>
                  </a:lnTo>
                  <a:lnTo>
                    <a:pt x="0" y="156092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129590" cy="165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7"/>
                </a:lnSpc>
              </a:pPr>
              <a:r>
                <a:rPr lang="en-US" sz="21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Visual + product display issues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074167" y="7217563"/>
            <a:ext cx="4277741" cy="2199818"/>
            <a:chOff x="0" y="0"/>
            <a:chExt cx="1126648" cy="5793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26648" cy="579376"/>
            </a:xfrm>
            <a:custGeom>
              <a:avLst/>
              <a:gdLst/>
              <a:ahLst/>
              <a:cxnLst/>
              <a:rect l="l" t="t" r="r" b="b"/>
              <a:pathLst>
                <a:path w="1126648" h="579376">
                  <a:moveTo>
                    <a:pt x="0" y="0"/>
                  </a:moveTo>
                  <a:lnTo>
                    <a:pt x="1126648" y="0"/>
                  </a:lnTo>
                  <a:lnTo>
                    <a:pt x="1126648" y="579376"/>
                  </a:lnTo>
                  <a:lnTo>
                    <a:pt x="0" y="579376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126648" cy="58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Inventory/product pages (performance_user)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slow page loads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Where/User: Cart → Checkout (standard_user)</a:t>
              </a:r>
            </a:p>
            <a:p>
              <a:pPr marL="369121" lvl="1" indent="-184560" algn="l">
                <a:lnSpc>
                  <a:spcPts val="2137"/>
                </a:lnSpc>
                <a:buFont typeface="Arial"/>
                <a:buChar char="•"/>
              </a:pPr>
              <a:r>
                <a:rPr lang="en-US" sz="17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What happens: checkout allowed with empty cart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074167" y="6528919"/>
            <a:ext cx="4277741" cy="624814"/>
            <a:chOff x="0" y="0"/>
            <a:chExt cx="1126648" cy="1645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26648" cy="164560"/>
            </a:xfrm>
            <a:custGeom>
              <a:avLst/>
              <a:gdLst/>
              <a:ahLst/>
              <a:cxnLst/>
              <a:rect l="l" t="t" r="r" b="b"/>
              <a:pathLst>
                <a:path w="1126648" h="164560">
                  <a:moveTo>
                    <a:pt x="0" y="0"/>
                  </a:moveTo>
                  <a:lnTo>
                    <a:pt x="1126648" y="0"/>
                  </a:lnTo>
                  <a:lnTo>
                    <a:pt x="1126648" y="164560"/>
                  </a:lnTo>
                  <a:lnTo>
                    <a:pt x="0" y="16456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126648" cy="17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7"/>
                </a:lnSpc>
              </a:pPr>
              <a:r>
                <a:rPr lang="en-US" sz="210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Performance + flow edge case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79257" y="1932324"/>
            <a:ext cx="2176124" cy="2167963"/>
          </a:xfrm>
          <a:custGeom>
            <a:avLst/>
            <a:gdLst/>
            <a:ahLst/>
            <a:cxnLst/>
            <a:rect l="l" t="t" r="r" b="b"/>
            <a:pathLst>
              <a:path w="2176124" h="2167963">
                <a:moveTo>
                  <a:pt x="0" y="0"/>
                </a:moveTo>
                <a:lnTo>
                  <a:pt x="2176123" y="0"/>
                </a:lnTo>
                <a:lnTo>
                  <a:pt x="2176123" y="2167964"/>
                </a:lnTo>
                <a:lnTo>
                  <a:pt x="0" y="216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61823" y="1932324"/>
            <a:ext cx="2176124" cy="2167963"/>
          </a:xfrm>
          <a:custGeom>
            <a:avLst/>
            <a:gdLst/>
            <a:ahLst/>
            <a:cxnLst/>
            <a:rect l="l" t="t" r="r" b="b"/>
            <a:pathLst>
              <a:path w="2176124" h="2167963">
                <a:moveTo>
                  <a:pt x="0" y="0"/>
                </a:moveTo>
                <a:lnTo>
                  <a:pt x="2176124" y="0"/>
                </a:lnTo>
                <a:lnTo>
                  <a:pt x="2176124" y="2167964"/>
                </a:lnTo>
                <a:lnTo>
                  <a:pt x="0" y="2167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11670" y="-1105094"/>
            <a:ext cx="15864660" cy="3037418"/>
            <a:chOff x="0" y="0"/>
            <a:chExt cx="4178347" cy="7999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78347" cy="799978"/>
            </a:xfrm>
            <a:custGeom>
              <a:avLst/>
              <a:gdLst/>
              <a:ahLst/>
              <a:cxnLst/>
              <a:rect l="l" t="t" r="r" b="b"/>
              <a:pathLst>
                <a:path w="4178347" h="799978">
                  <a:moveTo>
                    <a:pt x="48800" y="0"/>
                  </a:moveTo>
                  <a:lnTo>
                    <a:pt x="4129547" y="0"/>
                  </a:lnTo>
                  <a:cubicBezTo>
                    <a:pt x="4156499" y="0"/>
                    <a:pt x="4178347" y="21848"/>
                    <a:pt x="4178347" y="48800"/>
                  </a:cubicBezTo>
                  <a:lnTo>
                    <a:pt x="4178347" y="751179"/>
                  </a:lnTo>
                  <a:cubicBezTo>
                    <a:pt x="4178347" y="778130"/>
                    <a:pt x="4156499" y="799978"/>
                    <a:pt x="4129547" y="799978"/>
                  </a:cubicBezTo>
                  <a:lnTo>
                    <a:pt x="48800" y="799978"/>
                  </a:lnTo>
                  <a:cubicBezTo>
                    <a:pt x="21848" y="799978"/>
                    <a:pt x="0" y="778130"/>
                    <a:pt x="0" y="751179"/>
                  </a:cubicBezTo>
                  <a:lnTo>
                    <a:pt x="0" y="48800"/>
                  </a:lnTo>
                  <a:cubicBezTo>
                    <a:pt x="0" y="21848"/>
                    <a:pt x="21848" y="0"/>
                    <a:pt x="48800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178347" cy="819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574174" y="308716"/>
            <a:ext cx="5123953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80"/>
              </a:lnSpc>
              <a:spcBef>
                <a:spcPct val="0"/>
              </a:spcBef>
            </a:pPr>
            <a:r>
              <a:rPr lang="en-US" sz="6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API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98409" y="1296214"/>
            <a:ext cx="6291180" cy="361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8"/>
              </a:lnSpc>
              <a:spcBef>
                <a:spcPct val="0"/>
              </a:spcBef>
            </a:pPr>
            <a:r>
              <a:rPr lang="en-US" sz="237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Postman + Newman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6981" y="2469253"/>
            <a:ext cx="6425050" cy="252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29 requests organized across 6 sections: HealthCheck</a:t>
            </a:r>
          </a:p>
          <a:p>
            <a:pPr marL="498658" lvl="1" indent="-249329" algn="l">
              <a:lnSpc>
                <a:spcPts val="2887"/>
              </a:lnSpc>
              <a:buFont typeface="Arial"/>
              <a:buChar char="•"/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Authentication</a:t>
            </a:r>
          </a:p>
          <a:p>
            <a:pPr marL="498658" lvl="1" indent="-249329" algn="l">
              <a:lnSpc>
                <a:spcPts val="2887"/>
              </a:lnSpc>
              <a:buFont typeface="Arial"/>
              <a:buChar char="•"/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Products</a:t>
            </a:r>
          </a:p>
          <a:p>
            <a:pPr marL="498658" lvl="1" indent="-249329" algn="l">
              <a:lnSpc>
                <a:spcPts val="2887"/>
              </a:lnSpc>
              <a:buFont typeface="Arial"/>
              <a:buChar char="•"/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Carts</a:t>
            </a:r>
          </a:p>
          <a:p>
            <a:pPr marL="498658" lvl="1" indent="-249329" algn="l">
              <a:lnSpc>
                <a:spcPts val="2887"/>
              </a:lnSpc>
              <a:buFont typeface="Arial"/>
              <a:buChar char="•"/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Users</a:t>
            </a:r>
          </a:p>
          <a:p>
            <a:pPr marL="498658" lvl="1" indent="-249329" algn="l">
              <a:lnSpc>
                <a:spcPts val="2887"/>
              </a:lnSpc>
              <a:buFont typeface="Arial"/>
              <a:buChar char="•"/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NegativeCases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59239" y="2469253"/>
            <a:ext cx="6520632" cy="216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3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Data-Driven Testing (Boundary Value Coverage):</a:t>
            </a:r>
          </a:p>
          <a:p>
            <a:pPr algn="l">
              <a:lnSpc>
                <a:spcPts val="2887"/>
              </a:lnSpc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Newman reads a </a:t>
            </a:r>
            <a:r>
              <a:rPr lang="en-US" sz="23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CSV</a:t>
            </a: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 with 9 different product IDs, including boundary/invalid IDs (0, -1, 999999), to validate expected outcomes (200 vs 404).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5375034"/>
            <a:ext cx="18288000" cy="71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  <a:spcBef>
                <a:spcPct val="0"/>
              </a:spcBef>
            </a:pPr>
            <a:r>
              <a:rPr lang="en-US" sz="23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Key validations</a:t>
            </a: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:</a:t>
            </a:r>
          </a:p>
          <a:p>
            <a:pPr algn="ctr">
              <a:lnSpc>
                <a:spcPts val="2887"/>
              </a:lnSpc>
              <a:spcBef>
                <a:spcPct val="0"/>
              </a:spcBef>
            </a:pPr>
            <a:r>
              <a:rPr lang="en-US" sz="23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HTTP status codes, response times, content-type, schema checks, token extraction and reuse.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5509" y="6284293"/>
            <a:ext cx="2516981" cy="35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  <a:spcBef>
                <a:spcPct val="0"/>
              </a:spcBef>
            </a:pPr>
            <a:r>
              <a:rPr lang="en-US" sz="23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Newman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8734" y="7517402"/>
            <a:ext cx="2110532" cy="11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927</a:t>
            </a:r>
          </a:p>
          <a:p>
            <a:pPr algn="ctr">
              <a:lnSpc>
                <a:spcPts val="3137"/>
              </a:lnSpc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Assertions</a:t>
            </a:r>
          </a:p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100% Passed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5155" y="7522543"/>
            <a:ext cx="3355479" cy="11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261</a:t>
            </a:r>
          </a:p>
          <a:p>
            <a:pPr algn="ctr">
              <a:lnSpc>
                <a:spcPts val="3137"/>
              </a:lnSpc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Total Requests</a:t>
            </a:r>
          </a:p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9 Iterations Executed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66191" y="7522543"/>
            <a:ext cx="3827413" cy="11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140ms</a:t>
            </a:r>
          </a:p>
          <a:p>
            <a:pPr algn="ctr">
              <a:lnSpc>
                <a:spcPts val="3137"/>
              </a:lnSpc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Average Response Time</a:t>
            </a:r>
          </a:p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59.1s Total Duration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05486" y="9573532"/>
            <a:ext cx="10277029" cy="39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Report: HTML Newman report generated (for readable evidence)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020352" y="-333263"/>
            <a:ext cx="10832300" cy="11068566"/>
            <a:chOff x="0" y="0"/>
            <a:chExt cx="2852951" cy="29151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2951" cy="2915178"/>
            </a:xfrm>
            <a:custGeom>
              <a:avLst/>
              <a:gdLst/>
              <a:ahLst/>
              <a:cxnLst/>
              <a:rect l="l" t="t" r="r" b="b"/>
              <a:pathLst>
                <a:path w="2852951" h="2915178">
                  <a:moveTo>
                    <a:pt x="71471" y="0"/>
                  </a:moveTo>
                  <a:lnTo>
                    <a:pt x="2781481" y="0"/>
                  </a:lnTo>
                  <a:cubicBezTo>
                    <a:pt x="2820953" y="0"/>
                    <a:pt x="2852951" y="31999"/>
                    <a:pt x="2852951" y="71471"/>
                  </a:cubicBezTo>
                  <a:lnTo>
                    <a:pt x="2852951" y="2843707"/>
                  </a:lnTo>
                  <a:cubicBezTo>
                    <a:pt x="2852951" y="2862662"/>
                    <a:pt x="2845421" y="2880841"/>
                    <a:pt x="2832018" y="2894245"/>
                  </a:cubicBezTo>
                  <a:cubicBezTo>
                    <a:pt x="2818615" y="2907648"/>
                    <a:pt x="2800436" y="2915178"/>
                    <a:pt x="2781481" y="2915178"/>
                  </a:cubicBezTo>
                  <a:lnTo>
                    <a:pt x="71471" y="2915178"/>
                  </a:lnTo>
                  <a:cubicBezTo>
                    <a:pt x="52515" y="2915178"/>
                    <a:pt x="34337" y="2907648"/>
                    <a:pt x="20933" y="2894245"/>
                  </a:cubicBezTo>
                  <a:cubicBezTo>
                    <a:pt x="7530" y="2880841"/>
                    <a:pt x="0" y="2862662"/>
                    <a:pt x="0" y="2843707"/>
                  </a:cubicBezTo>
                  <a:lnTo>
                    <a:pt x="0" y="71471"/>
                  </a:lnTo>
                  <a:cubicBezTo>
                    <a:pt x="0" y="52515"/>
                    <a:pt x="7530" y="34337"/>
                    <a:pt x="20933" y="20933"/>
                  </a:cubicBezTo>
                  <a:cubicBezTo>
                    <a:pt x="34337" y="7530"/>
                    <a:pt x="52515" y="0"/>
                    <a:pt x="71471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852951" cy="2934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69856" y="8711382"/>
            <a:ext cx="3486148" cy="3481791"/>
          </a:xfrm>
          <a:custGeom>
            <a:avLst/>
            <a:gdLst/>
            <a:ahLst/>
            <a:cxnLst/>
            <a:rect l="l" t="t" r="r" b="b"/>
            <a:pathLst>
              <a:path w="3486148" h="3481791">
                <a:moveTo>
                  <a:pt x="0" y="0"/>
                </a:moveTo>
                <a:lnTo>
                  <a:pt x="3486148" y="0"/>
                </a:lnTo>
                <a:lnTo>
                  <a:pt x="3486148" y="3481791"/>
                </a:lnTo>
                <a:lnTo>
                  <a:pt x="0" y="348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823359" y="-1857785"/>
            <a:ext cx="3486148" cy="3481791"/>
          </a:xfrm>
          <a:custGeom>
            <a:avLst/>
            <a:gdLst/>
            <a:ahLst/>
            <a:cxnLst/>
            <a:rect l="l" t="t" r="r" b="b"/>
            <a:pathLst>
              <a:path w="3486148" h="3481791">
                <a:moveTo>
                  <a:pt x="0" y="0"/>
                </a:moveTo>
                <a:lnTo>
                  <a:pt x="3486148" y="0"/>
                </a:lnTo>
                <a:lnTo>
                  <a:pt x="3486148" y="3481791"/>
                </a:lnTo>
                <a:lnTo>
                  <a:pt x="0" y="348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546416" y="5201020"/>
            <a:ext cx="711605" cy="711605"/>
          </a:xfrm>
          <a:custGeom>
            <a:avLst/>
            <a:gdLst/>
            <a:ahLst/>
            <a:cxnLst/>
            <a:rect l="l" t="t" r="r" b="b"/>
            <a:pathLst>
              <a:path w="711605" h="711605">
                <a:moveTo>
                  <a:pt x="0" y="0"/>
                </a:moveTo>
                <a:lnTo>
                  <a:pt x="711605" y="0"/>
                </a:lnTo>
                <a:lnTo>
                  <a:pt x="711605" y="711605"/>
                </a:lnTo>
                <a:lnTo>
                  <a:pt x="0" y="711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546416" y="171879"/>
            <a:ext cx="1509818" cy="856821"/>
          </a:xfrm>
          <a:custGeom>
            <a:avLst/>
            <a:gdLst/>
            <a:ahLst/>
            <a:cxnLst/>
            <a:rect l="l" t="t" r="r" b="b"/>
            <a:pathLst>
              <a:path w="1509818" h="856821">
                <a:moveTo>
                  <a:pt x="0" y="0"/>
                </a:moveTo>
                <a:lnTo>
                  <a:pt x="1509818" y="0"/>
                </a:lnTo>
                <a:lnTo>
                  <a:pt x="1509818" y="856821"/>
                </a:lnTo>
                <a:lnTo>
                  <a:pt x="0" y="85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73791" y="9858589"/>
            <a:ext cx="1509818" cy="856821"/>
          </a:xfrm>
          <a:custGeom>
            <a:avLst/>
            <a:gdLst/>
            <a:ahLst/>
            <a:cxnLst/>
            <a:rect l="l" t="t" r="r" b="b"/>
            <a:pathLst>
              <a:path w="1509818" h="856821">
                <a:moveTo>
                  <a:pt x="0" y="0"/>
                </a:moveTo>
                <a:lnTo>
                  <a:pt x="1509818" y="0"/>
                </a:lnTo>
                <a:lnTo>
                  <a:pt x="1509818" y="856822"/>
                </a:lnTo>
                <a:lnTo>
                  <a:pt x="0" y="85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62789" y="761936"/>
            <a:ext cx="6420106" cy="55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4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Performan</a:t>
            </a:r>
            <a:r>
              <a:rPr lang="en-US" sz="3800" b="1" u="none" strike="noStrike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ce Testing (k6)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5892" y="1422251"/>
            <a:ext cx="5293899" cy="289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899" spc="108" dirty="0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Re</a:t>
            </a:r>
            <a:r>
              <a:rPr lang="en-US" sz="1899" u="none" strike="noStrike" spc="108" dirty="0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sponse time • Throughput • Error rate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907" y="567843"/>
            <a:ext cx="8428012" cy="8643476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15293" y="2485707"/>
            <a:ext cx="2102591" cy="375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Key Results: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6328" y="3010934"/>
            <a:ext cx="5483721" cy="19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• Total requests: 3,088</a:t>
            </a:r>
          </a:p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• Error rate: 0% (all checks passed)</a:t>
            </a:r>
          </a:p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• Throughput: ~16.16 req/s</a:t>
            </a:r>
          </a:p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• p95: 251ms • p99: 409ms</a:t>
            </a:r>
          </a:p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• Max: 847ms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6328" y="6209266"/>
            <a:ext cx="9096993" cy="11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At the tested load, the API remained stable (0% errors) with strong latency (p95 251ms). No performance bottlenecks were observed at this level.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8136" y="5619512"/>
            <a:ext cx="2468556" cy="39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Interpretation: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36145" y="7822155"/>
            <a:ext cx="2872289" cy="5744579"/>
          </a:xfrm>
          <a:custGeom>
            <a:avLst/>
            <a:gdLst/>
            <a:ahLst/>
            <a:cxnLst/>
            <a:rect l="l" t="t" r="r" b="b"/>
            <a:pathLst>
              <a:path w="2872289" h="5744579">
                <a:moveTo>
                  <a:pt x="0" y="0"/>
                </a:moveTo>
                <a:lnTo>
                  <a:pt x="2872289" y="0"/>
                </a:lnTo>
                <a:lnTo>
                  <a:pt x="2872289" y="5744579"/>
                </a:lnTo>
                <a:lnTo>
                  <a:pt x="0" y="57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20374" y="-1067960"/>
            <a:ext cx="17885244" cy="3356457"/>
            <a:chOff x="0" y="0"/>
            <a:chExt cx="4710517" cy="884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0517" cy="884005"/>
            </a:xfrm>
            <a:custGeom>
              <a:avLst/>
              <a:gdLst/>
              <a:ahLst/>
              <a:cxnLst/>
              <a:rect l="l" t="t" r="r" b="b"/>
              <a:pathLst>
                <a:path w="4710517" h="884005">
                  <a:moveTo>
                    <a:pt x="43287" y="0"/>
                  </a:moveTo>
                  <a:lnTo>
                    <a:pt x="4667231" y="0"/>
                  </a:lnTo>
                  <a:cubicBezTo>
                    <a:pt x="4678711" y="0"/>
                    <a:pt x="4689721" y="4561"/>
                    <a:pt x="4697839" y="12678"/>
                  </a:cubicBezTo>
                  <a:cubicBezTo>
                    <a:pt x="4705957" y="20796"/>
                    <a:pt x="4710517" y="31806"/>
                    <a:pt x="4710517" y="43287"/>
                  </a:cubicBezTo>
                  <a:lnTo>
                    <a:pt x="4710517" y="840719"/>
                  </a:lnTo>
                  <a:cubicBezTo>
                    <a:pt x="4710517" y="852199"/>
                    <a:pt x="4705957" y="863209"/>
                    <a:pt x="4697839" y="871327"/>
                  </a:cubicBezTo>
                  <a:cubicBezTo>
                    <a:pt x="4689721" y="879445"/>
                    <a:pt x="4678711" y="884005"/>
                    <a:pt x="4667231" y="884005"/>
                  </a:cubicBezTo>
                  <a:lnTo>
                    <a:pt x="43287" y="884005"/>
                  </a:lnTo>
                  <a:cubicBezTo>
                    <a:pt x="31806" y="884005"/>
                    <a:pt x="20796" y="879445"/>
                    <a:pt x="12678" y="871327"/>
                  </a:cubicBezTo>
                  <a:cubicBezTo>
                    <a:pt x="4561" y="863209"/>
                    <a:pt x="0" y="852199"/>
                    <a:pt x="0" y="840719"/>
                  </a:cubicBezTo>
                  <a:lnTo>
                    <a:pt x="0" y="43287"/>
                  </a:lnTo>
                  <a:cubicBezTo>
                    <a:pt x="0" y="31806"/>
                    <a:pt x="4561" y="20796"/>
                    <a:pt x="12678" y="12678"/>
                  </a:cubicBezTo>
                  <a:cubicBezTo>
                    <a:pt x="20796" y="4561"/>
                    <a:pt x="31806" y="0"/>
                    <a:pt x="43287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710517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15224483" y="-53542"/>
            <a:ext cx="3033254" cy="631089"/>
          </a:xfrm>
          <a:custGeom>
            <a:avLst/>
            <a:gdLst/>
            <a:ahLst/>
            <a:cxnLst/>
            <a:rect l="l" t="t" r="r" b="b"/>
            <a:pathLst>
              <a:path w="3033254" h="631089">
                <a:moveTo>
                  <a:pt x="0" y="0"/>
                </a:moveTo>
                <a:lnTo>
                  <a:pt x="3033255" y="0"/>
                </a:lnTo>
                <a:lnTo>
                  <a:pt x="3033255" y="631089"/>
                </a:lnTo>
                <a:lnTo>
                  <a:pt x="0" y="63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903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0" y="610269"/>
            <a:ext cx="1776486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838"/>
              </a:lnSpc>
              <a:spcBef>
                <a:spcPct val="0"/>
              </a:spcBef>
            </a:pPr>
            <a:r>
              <a:rPr lang="en-US" sz="4100" b="1" dirty="0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UI Automation (Selenium /TestNG)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20374" y="1475759"/>
            <a:ext cx="17885243" cy="375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7"/>
              </a:lnSpc>
              <a:spcBef>
                <a:spcPct val="0"/>
              </a:spcBef>
            </a:pPr>
            <a:r>
              <a:rPr lang="en-US" sz="2509" dirty="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Regression detection for the core user journey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292978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59135" y="2545673"/>
            <a:ext cx="320725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039130"/>
            <a:ext cx="6492240" cy="99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Login Test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Verify Standard_user login and inventory page Loads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144051" y="2894226"/>
            <a:ext cx="70670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144000" y="2545673"/>
            <a:ext cx="377726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51" y="3003570"/>
            <a:ext cx="6492240" cy="66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Add One Item To Cart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Add product, Verify cart badge and contents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8700" y="4505223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30486" y="4121109"/>
            <a:ext cx="378023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614567"/>
            <a:ext cx="6492240" cy="66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Reset App State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Reset app state; confirm cart returns to empty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9144051" y="4469663"/>
            <a:ext cx="7067045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144000" y="4121109"/>
            <a:ext cx="387846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51" y="4731786"/>
            <a:ext cx="6492240" cy="66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Sort Products By Price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Apply low→high sort; validate ordering behavior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28700" y="5830848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32346" y="5446735"/>
            <a:ext cx="374303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940192"/>
            <a:ext cx="6492240" cy="66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Select Multiple Products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Add multiple items; verify cart count and totals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144051" y="5776238"/>
            <a:ext cx="714950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138991" y="5446735"/>
            <a:ext cx="386060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69427" y="5904632"/>
            <a:ext cx="7748747" cy="99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Checkout → Overview</a:t>
            </a:r>
          </a:p>
          <a:p>
            <a:pPr algn="l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Navigate checkout, enter customer info, and verify navigation to checkout step two.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3621" y="9305736"/>
            <a:ext cx="1172323" cy="25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0"/>
              </a:lnSpc>
              <a:spcBef>
                <a:spcPct val="0"/>
              </a:spcBef>
            </a:pPr>
            <a:r>
              <a:rPr lang="en-US" sz="164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Framework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10229" y="9600358"/>
            <a:ext cx="3257279" cy="50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  <a:spcBef>
                <a:spcPct val="0"/>
              </a:spcBef>
            </a:pPr>
            <a:r>
              <a:rPr lang="en-US" sz="164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Java + Selenium WebDriver + TestNG with Maven Build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91078" y="9158425"/>
            <a:ext cx="648324" cy="25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0"/>
              </a:lnSpc>
              <a:spcBef>
                <a:spcPct val="0"/>
              </a:spcBef>
            </a:pPr>
            <a:r>
              <a:rPr lang="en-US" sz="164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Result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11292" y="9453047"/>
            <a:ext cx="5986332" cy="50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64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8 prioritized tests covering critical end-to-end workflows.</a:t>
            </a:r>
          </a:p>
          <a:p>
            <a:pPr algn="l">
              <a:lnSpc>
                <a:spcPts val="2050"/>
              </a:lnSpc>
              <a:spcBef>
                <a:spcPct val="0"/>
              </a:spcBef>
            </a:pPr>
            <a:r>
              <a:rPr lang="en-US" sz="1640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All Tests Passed: 0 failures, 0 errors, 0 skipped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8700" y="7427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038523" y="7043761"/>
            <a:ext cx="361950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7537219"/>
            <a:ext cx="6492240" cy="99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Verify Total Price &amp; Finish</a:t>
            </a:r>
          </a:p>
          <a:p>
            <a:pPr algn="just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Validate item total + tax calculation, then finish order and confirm checkout complete page.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9144051" y="7373265"/>
            <a:ext cx="733779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9199862" y="7043761"/>
            <a:ext cx="383828" cy="32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08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69427" y="7501659"/>
            <a:ext cx="6466865" cy="132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Back to Products &amp; Logout</a:t>
            </a:r>
          </a:p>
          <a:p>
            <a:pPr algn="l">
              <a:lnSpc>
                <a:spcPts val="2637"/>
              </a:lnSpc>
              <a:spcBef>
                <a:spcPct val="0"/>
              </a:spcBef>
            </a:pPr>
            <a:r>
              <a:rPr lang="en-US" sz="2109">
                <a:solidFill>
                  <a:srgbClr val="1C2011"/>
                </a:solidFill>
                <a:latin typeface="Gordita"/>
                <a:ea typeface="Gordita"/>
                <a:cs typeface="Gordita"/>
                <a:sym typeface="Gordita"/>
              </a:rPr>
              <a:t>Verify cart badge cleared, return to inventory page, open menu, logout, and confirm redirect to login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3075712" y="4642478"/>
            <a:ext cx="11446437" cy="3356457"/>
            <a:chOff x="0" y="0"/>
            <a:chExt cx="3014700" cy="884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4700" cy="884005"/>
            </a:xfrm>
            <a:custGeom>
              <a:avLst/>
              <a:gdLst/>
              <a:ahLst/>
              <a:cxnLst/>
              <a:rect l="l" t="t" r="r" b="b"/>
              <a:pathLst>
                <a:path w="3014700" h="884005">
                  <a:moveTo>
                    <a:pt x="67636" y="0"/>
                  </a:moveTo>
                  <a:lnTo>
                    <a:pt x="2947064" y="0"/>
                  </a:lnTo>
                  <a:cubicBezTo>
                    <a:pt x="2965002" y="0"/>
                    <a:pt x="2982205" y="7126"/>
                    <a:pt x="2994889" y="19810"/>
                  </a:cubicBezTo>
                  <a:cubicBezTo>
                    <a:pt x="3007574" y="32494"/>
                    <a:pt x="3014700" y="49698"/>
                    <a:pt x="3014700" y="67636"/>
                  </a:cubicBezTo>
                  <a:lnTo>
                    <a:pt x="3014700" y="816369"/>
                  </a:lnTo>
                  <a:cubicBezTo>
                    <a:pt x="3014700" y="834307"/>
                    <a:pt x="3007574" y="851511"/>
                    <a:pt x="2994889" y="864195"/>
                  </a:cubicBezTo>
                  <a:cubicBezTo>
                    <a:pt x="2982205" y="876879"/>
                    <a:pt x="2965002" y="884005"/>
                    <a:pt x="2947064" y="884005"/>
                  </a:cubicBezTo>
                  <a:lnTo>
                    <a:pt x="67636" y="884005"/>
                  </a:lnTo>
                  <a:cubicBezTo>
                    <a:pt x="49698" y="884005"/>
                    <a:pt x="32494" y="876879"/>
                    <a:pt x="19810" y="864195"/>
                  </a:cubicBezTo>
                  <a:cubicBezTo>
                    <a:pt x="7126" y="851511"/>
                    <a:pt x="0" y="834307"/>
                    <a:pt x="0" y="816369"/>
                  </a:cubicBezTo>
                  <a:lnTo>
                    <a:pt x="0" y="67636"/>
                  </a:lnTo>
                  <a:cubicBezTo>
                    <a:pt x="0" y="49698"/>
                    <a:pt x="7126" y="32494"/>
                    <a:pt x="19810" y="19810"/>
                  </a:cubicBezTo>
                  <a:cubicBezTo>
                    <a:pt x="32494" y="7126"/>
                    <a:pt x="49698" y="0"/>
                    <a:pt x="6763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014700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6372747" y="2398743"/>
            <a:ext cx="11446437" cy="3356457"/>
            <a:chOff x="0" y="0"/>
            <a:chExt cx="3014700" cy="8840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4700" cy="884005"/>
            </a:xfrm>
            <a:custGeom>
              <a:avLst/>
              <a:gdLst/>
              <a:ahLst/>
              <a:cxnLst/>
              <a:rect l="l" t="t" r="r" b="b"/>
              <a:pathLst>
                <a:path w="3014700" h="884005">
                  <a:moveTo>
                    <a:pt x="67636" y="0"/>
                  </a:moveTo>
                  <a:lnTo>
                    <a:pt x="2947064" y="0"/>
                  </a:lnTo>
                  <a:cubicBezTo>
                    <a:pt x="2965002" y="0"/>
                    <a:pt x="2982205" y="7126"/>
                    <a:pt x="2994889" y="19810"/>
                  </a:cubicBezTo>
                  <a:cubicBezTo>
                    <a:pt x="3007574" y="32494"/>
                    <a:pt x="3014700" y="49698"/>
                    <a:pt x="3014700" y="67636"/>
                  </a:cubicBezTo>
                  <a:lnTo>
                    <a:pt x="3014700" y="816369"/>
                  </a:lnTo>
                  <a:cubicBezTo>
                    <a:pt x="3014700" y="834307"/>
                    <a:pt x="3007574" y="851511"/>
                    <a:pt x="2994889" y="864195"/>
                  </a:cubicBezTo>
                  <a:cubicBezTo>
                    <a:pt x="2982205" y="876879"/>
                    <a:pt x="2965002" y="884005"/>
                    <a:pt x="2947064" y="884005"/>
                  </a:cubicBezTo>
                  <a:lnTo>
                    <a:pt x="67636" y="884005"/>
                  </a:lnTo>
                  <a:cubicBezTo>
                    <a:pt x="49698" y="884005"/>
                    <a:pt x="32494" y="876879"/>
                    <a:pt x="19810" y="864195"/>
                  </a:cubicBezTo>
                  <a:cubicBezTo>
                    <a:pt x="7126" y="851511"/>
                    <a:pt x="0" y="834307"/>
                    <a:pt x="0" y="816369"/>
                  </a:cubicBezTo>
                  <a:lnTo>
                    <a:pt x="0" y="67636"/>
                  </a:lnTo>
                  <a:cubicBezTo>
                    <a:pt x="0" y="49698"/>
                    <a:pt x="7126" y="32494"/>
                    <a:pt x="19810" y="19810"/>
                  </a:cubicBezTo>
                  <a:cubicBezTo>
                    <a:pt x="32494" y="7126"/>
                    <a:pt x="49698" y="0"/>
                    <a:pt x="67636" y="0"/>
                  </a:cubicBezTo>
                  <a:close/>
                </a:path>
              </a:pathLst>
            </a:custGeom>
            <a:solidFill>
              <a:srgbClr val="8EA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3014700" cy="903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257319" y="1028700"/>
            <a:ext cx="2453808" cy="162856"/>
          </a:xfrm>
          <a:custGeom>
            <a:avLst/>
            <a:gdLst/>
            <a:ahLst/>
            <a:cxnLst/>
            <a:rect l="l" t="t" r="r" b="b"/>
            <a:pathLst>
              <a:path w="2453808" h="162856">
                <a:moveTo>
                  <a:pt x="0" y="0"/>
                </a:moveTo>
                <a:lnTo>
                  <a:pt x="2453808" y="0"/>
                </a:lnTo>
                <a:lnTo>
                  <a:pt x="2453808" y="162856"/>
                </a:lnTo>
                <a:lnTo>
                  <a:pt x="0" y="162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1035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6321555" y="5262856"/>
            <a:ext cx="4231400" cy="2115700"/>
          </a:xfrm>
          <a:custGeom>
            <a:avLst/>
            <a:gdLst/>
            <a:ahLst/>
            <a:cxnLst/>
            <a:rect l="l" t="t" r="r" b="b"/>
            <a:pathLst>
              <a:path w="4231400" h="2115700">
                <a:moveTo>
                  <a:pt x="0" y="0"/>
                </a:moveTo>
                <a:lnTo>
                  <a:pt x="4231400" y="0"/>
                </a:lnTo>
                <a:lnTo>
                  <a:pt x="4231400" y="2115700"/>
                </a:lnTo>
                <a:lnTo>
                  <a:pt x="0" y="211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-2235103" y="930654"/>
            <a:ext cx="4195091" cy="2097545"/>
          </a:xfrm>
          <a:custGeom>
            <a:avLst/>
            <a:gdLst/>
            <a:ahLst/>
            <a:cxnLst/>
            <a:rect l="l" t="t" r="r" b="b"/>
            <a:pathLst>
              <a:path w="4195091" h="2097545">
                <a:moveTo>
                  <a:pt x="0" y="0"/>
                </a:moveTo>
                <a:lnTo>
                  <a:pt x="4195090" y="0"/>
                </a:lnTo>
                <a:lnTo>
                  <a:pt x="4195090" y="2097545"/>
                </a:lnTo>
                <a:lnTo>
                  <a:pt x="0" y="2097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47347" y="592455"/>
            <a:ext cx="7084365" cy="89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080"/>
              </a:lnSpc>
              <a:spcBef>
                <a:spcPct val="0"/>
              </a:spcBef>
            </a:pPr>
            <a:r>
              <a:rPr lang="en-US" sz="6000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2266" y="1860345"/>
            <a:ext cx="7157239" cy="344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1999" b="1" spc="113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What </a:t>
            </a:r>
            <a:r>
              <a:rPr lang="en-US" sz="1999" b="1" u="none" strike="noStrike" spc="113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I delivered</a:t>
            </a:r>
          </a:p>
          <a:p>
            <a:pPr marL="431799" lvl="1" indent="-215899" algn="l">
              <a:lnSpc>
                <a:spcPts val="24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113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End-to-end QA across UI + API: manual, automation, and performance evidence</a:t>
            </a:r>
          </a:p>
          <a:p>
            <a:pPr marL="431799" lvl="1" indent="-215899" algn="l">
              <a:lnSpc>
                <a:spcPts val="24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113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23 manual tests executed → 8 defects found (2 Critical, 2 High, 4 Medium)</a:t>
            </a:r>
          </a:p>
          <a:p>
            <a:pPr marL="431799" lvl="1" indent="-215899" algn="l">
              <a:lnSpc>
                <a:spcPts val="24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113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API regression suite: 261 requests / 927 assertions / 0 failed</a:t>
            </a:r>
          </a:p>
          <a:p>
            <a:pPr marL="431799" lvl="1" indent="-215899" algn="l">
              <a:lnSpc>
                <a:spcPts val="24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113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k6 performance: 0% errors, p95 251ms, ~16 req/s</a:t>
            </a:r>
          </a:p>
          <a:p>
            <a:pPr marL="431799" lvl="1" indent="-215899" algn="l">
              <a:lnSpc>
                <a:spcPts val="24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113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UI regression suite: 8 Selenium/TestNG tests covering the core journey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9081" y="1841295"/>
            <a:ext cx="7596653" cy="117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Key takeaway</a:t>
            </a:r>
          </a:p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sz="2509">
                <a:solidFill>
                  <a:srgbClr val="1C2011"/>
                </a:solidFill>
                <a:latin typeface="Gordita Light"/>
                <a:ea typeface="Gordita Light"/>
                <a:cs typeface="Gordita Light"/>
                <a:sym typeface="Gordita Light"/>
              </a:rPr>
              <a:t>Highest risk is concentrated in Checkout (critical blockers) and Cart/Sorting (high)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3080" y="6123814"/>
            <a:ext cx="16092002" cy="27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9"/>
              </a:lnSpc>
              <a:spcBef>
                <a:spcPct val="0"/>
              </a:spcBef>
            </a:pPr>
            <a:r>
              <a:rPr lang="en-US" sz="5791" b="1">
                <a:solidFill>
                  <a:srgbClr val="1C2011"/>
                </a:solidFill>
                <a:latin typeface="Gordita Bold"/>
                <a:ea typeface="Gordita Bold"/>
                <a:cs typeface="Gordita Bold"/>
                <a:sym typeface="Gordita Bold"/>
              </a:rPr>
              <a:t>Thank you</a:t>
            </a:r>
          </a:p>
          <a:p>
            <a:pPr algn="ctr">
              <a:lnSpc>
                <a:spcPts val="7239"/>
              </a:lnSpc>
              <a:spcBef>
                <a:spcPct val="0"/>
              </a:spcBef>
            </a:pPr>
            <a:endParaRPr lang="en-US" sz="5791" b="1">
              <a:solidFill>
                <a:srgbClr val="1C2011"/>
              </a:solidFill>
              <a:latin typeface="Gordita Bold"/>
              <a:ea typeface="Gordita Bold"/>
              <a:cs typeface="Gordita Bold"/>
              <a:sym typeface="Gordita Bold"/>
            </a:endParaRPr>
          </a:p>
          <a:p>
            <a:pPr algn="ctr">
              <a:lnSpc>
                <a:spcPts val="7239"/>
              </a:lnSpc>
              <a:spcBef>
                <a:spcPct val="0"/>
              </a:spcBef>
            </a:pPr>
            <a:r>
              <a:rPr lang="en-US" sz="5791" b="1">
                <a:solidFill>
                  <a:srgbClr val="1C2011"/>
                </a:solidFill>
                <a:latin typeface="Recoleta Heavy"/>
                <a:ea typeface="Recoleta Heavy"/>
                <a:cs typeface="Recoleta Heavy"/>
                <a:sym typeface="Recoleta Heavy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1124</Words>
  <Application>Microsoft Office PowerPoint</Application>
  <PresentationFormat>Custom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Gordita Bold</vt:lpstr>
      <vt:lpstr>Calibri</vt:lpstr>
      <vt:lpstr>Gordita</vt:lpstr>
      <vt:lpstr>Recoleta Heavy</vt:lpstr>
      <vt:lpstr>Gordita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Professional College Thesis Education Presentation</dc:title>
  <cp:lastModifiedBy>Muhammed Marashdeh</cp:lastModifiedBy>
  <cp:revision>4</cp:revision>
  <dcterms:created xsi:type="dcterms:W3CDTF">2006-08-16T00:00:00Z</dcterms:created>
  <dcterms:modified xsi:type="dcterms:W3CDTF">2026-02-08T18:10:06Z</dcterms:modified>
  <dc:identifier>DAHAciHY8T4</dc:identifier>
</cp:coreProperties>
</file>